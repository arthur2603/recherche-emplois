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4"/>
  </p:sldMasterIdLst>
  <p:notesMasterIdLst>
    <p:notesMasterId r:id="rId13"/>
  </p:notesMasterIdLst>
  <p:sldIdLst>
    <p:sldId id="6648" r:id="rId5"/>
    <p:sldId id="6813" r:id="rId6"/>
    <p:sldId id="476" r:id="rId7"/>
    <p:sldId id="6803" r:id="rId8"/>
    <p:sldId id="495" r:id="rId9"/>
    <p:sldId id="6812" r:id="rId10"/>
    <p:sldId id="6811" r:id="rId11"/>
    <p:sldId id="6745" r:id="rId12"/>
  </p:sldIdLst>
  <p:sldSz cx="12192000" cy="6858000"/>
  <p:notesSz cx="6735763" cy="98663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AE05716-ADDA-44CE-8E93-1D1A9D3B29B6}" name="Daugé, Aurélie (RX-PTV)" initials="DA(P" userId="Daugé, Aurélie (RX-PTV)" providerId="None"/>
  <p188:author id="{2C3CB93D-D6D2-9A71-AA1D-D01CE4046857}" name="Youngstrom, Katherine (RX-NOR)" initials="Y(" userId="S::nellisk@b2b.regn.net::2114c721-090d-4570-a2b4-aedfdd9956f0" providerId="AD"/>
  <p188:author id="{674DE051-4897-EE03-6154-6596F150AFBE}" name="Boudhrioua, Akram (RX-PTV)" initials="AB" userId="S::boudhriouaa@b2b.regn.net::8600a111-acec-4f31-91e2-887340cf278d" providerId="AD"/>
  <p188:author id="{F3565061-8DC6-DC2F-46F1-B0429495DFFE}" name="BOISSIER Tristan" initials="BT" userId="S::Tristan.BOISSIER@eurogroupconsulting.com::b34e2c32-230b-4146-b41c-a6c555dcc7f2" providerId="AD"/>
  <p188:author id="{3D99B773-46C8-F6CC-210A-33D5E0EF2C91}" name="Carreau, Solen (RX-PTV)" initials="SC" userId="S::carreaus@b2b.regn.net::dfae4948-a194-4ca3-9e41-049ef7b94f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D7CD"/>
    <a:srgbClr val="FF5F00"/>
    <a:srgbClr val="FFC000"/>
    <a:srgbClr val="FCECE8"/>
    <a:srgbClr val="FFF7E1"/>
    <a:srgbClr val="FFE697"/>
    <a:srgbClr val="ECECEC"/>
    <a:srgbClr val="F2F2F2"/>
    <a:srgbClr val="FF5813"/>
    <a:srgbClr val="FF68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4C1B3CA-AC6A-1135-F28E-84B95EEBD3E4}" v="229" dt="2026-09-15T09:59:34.314"/>
    <p1510:client id="{FC741388-798C-7439-E31F-EB98707B3997}" v="308" dt="2026-09-15T09:51:29.0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Style moye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microsoft.com/office/2015/10/relationships/revisionInfo" Target="revisionInfo.xml"/><Relationship Id="rId19" Type="http://schemas.microsoft.com/office/2018/10/relationships/authors" Target="author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A6A14-014A-494C-AB91-B9C2F5113863}" type="datetimeFigureOut">
              <a:rPr lang="fr-FR" smtClean="0"/>
              <a:t>16/09/2026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E2A95-32E3-4BEF-A52E-5D1AF441EF27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088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86110-25BE-4C45-A41E-8D48EB2F78C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15833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B6B6A-648B-EA77-FFFF-F0B8DD139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8DBDE6-68C4-1493-5A2C-2612032439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EA8F887-0BF2-9026-1FD0-13BD317F61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910C9DA-848D-9587-7AA5-F5B083AC82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4056BDF-D1B7-401E-B7F9-2A89048CE6DB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5003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73C28E-7182-99D5-0CE9-D5F628FB6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F266751-A0D7-46E8-D73E-1C05D7A3FF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D88D046-8E39-BF79-3AE3-ABBFBD610B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E5CFE2-22EC-F4D4-AA13-00F36B0FFA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9586110-25BE-4C45-A41E-8D48EB2F78C5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38051510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C640532F-AC3D-7044-85D9-31B720183C6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74713" y="1658560"/>
            <a:ext cx="10442574" cy="472020"/>
          </a:xfrm>
        </p:spPr>
        <p:txBody>
          <a:bodyPr/>
          <a:lstStyle>
            <a:lvl1pPr>
              <a:defRPr sz="3000">
                <a:latin typeface="Montserrat" pitchFamily="2" charset="77"/>
              </a:defRPr>
            </a:lvl1pPr>
          </a:lstStyle>
          <a:p>
            <a:pPr lvl="0"/>
            <a:r>
              <a:rPr lang="fr-FR"/>
              <a:t>Sous-titre éventuel</a:t>
            </a:r>
          </a:p>
        </p:txBody>
      </p:sp>
      <p:sp>
        <p:nvSpPr>
          <p:cNvPr id="13" name="Espace réservé du texte 12">
            <a:extLst>
              <a:ext uri="{FF2B5EF4-FFF2-40B4-BE49-F238E27FC236}">
                <a16:creationId xmlns:a16="http://schemas.microsoft.com/office/drawing/2014/main" id="{5744D430-54C1-9647-BFC8-6005A674023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74713" y="1241181"/>
            <a:ext cx="10442574" cy="461665"/>
          </a:xfrm>
        </p:spPr>
        <p:txBody>
          <a:bodyPr/>
          <a:lstStyle>
            <a:lvl1pPr>
              <a:defRPr sz="3000" b="1" i="0">
                <a:latin typeface="Montserrat" pitchFamily="2" charset="77"/>
              </a:defRPr>
            </a:lvl1pPr>
          </a:lstStyle>
          <a:p>
            <a:pPr lvl="0"/>
            <a:r>
              <a:rPr lang="fr-FR"/>
              <a:t>Titre de la présentation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63CB13AE-72BA-7B4D-BF1D-2B25BC3392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74713" y="2475364"/>
            <a:ext cx="10442574" cy="369332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fr-FR"/>
              <a:t>Salon / Service</a:t>
            </a:r>
          </a:p>
        </p:txBody>
      </p:sp>
      <p:sp>
        <p:nvSpPr>
          <p:cNvPr id="18" name="Espace réservé du texte 17">
            <a:extLst>
              <a:ext uri="{FF2B5EF4-FFF2-40B4-BE49-F238E27FC236}">
                <a16:creationId xmlns:a16="http://schemas.microsoft.com/office/drawing/2014/main" id="{A15C3DBA-1056-9E45-87E9-870D159FCA8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74713" y="2885118"/>
            <a:ext cx="4370387" cy="184666"/>
          </a:xfrm>
        </p:spPr>
        <p:txBody>
          <a:bodyPr/>
          <a:lstStyle>
            <a:lvl1pPr>
              <a:defRPr sz="1200">
                <a:latin typeface="Lato" panose="020F0502020204030203" pitchFamily="34" charset="77"/>
              </a:defRPr>
            </a:lvl1pPr>
          </a:lstStyle>
          <a:p>
            <a:pPr lvl="0"/>
            <a:r>
              <a:rPr lang="fr-FR"/>
              <a:t>Décembre 2022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FCD2A398-4D3A-304C-AFBE-B40CA5DA8E0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79"/>
          <a:stretch/>
        </p:blipFill>
        <p:spPr>
          <a:xfrm>
            <a:off x="727389" y="6155854"/>
            <a:ext cx="1790301" cy="513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6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bg>
      <p:bgPr>
        <a:solidFill>
          <a:srgbClr val="19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6C5418-B847-A04E-84C5-6249863D7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713" y="3204579"/>
            <a:ext cx="10445220" cy="448841"/>
          </a:xfrm>
        </p:spPr>
        <p:txBody>
          <a:bodyPr anchor="ctr"/>
          <a:lstStyle>
            <a:lvl1pPr algn="ctr">
              <a:lnSpc>
                <a:spcPts val="3500"/>
              </a:lnSpc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010FB381-BE29-F040-853C-E4DA860374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779" y="0"/>
            <a:ext cx="2793795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9703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74E1501-D6F1-6545-A6B3-012D238487C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2382" y="6522203"/>
            <a:ext cx="5213617" cy="69250"/>
          </a:xfrm>
        </p:spPr>
        <p:txBody>
          <a:bodyPr/>
          <a:lstStyle>
            <a:lvl1pPr>
              <a:defRPr sz="450"/>
            </a:lvl1pPr>
          </a:lstStyle>
          <a:p>
            <a:pPr defTabSz="642915"/>
            <a:r>
              <a:rPr lang="fr-FR"/>
              <a:t>Titre présentation </a:t>
            </a:r>
            <a:r>
              <a:rPr lang="fr-FR" b="0"/>
              <a:t>- Décembre 2022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8E4B9A7-4716-2643-87FB-6E675063EAF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908415" y="6406648"/>
            <a:ext cx="2804160" cy="153888"/>
          </a:xfrm>
        </p:spPr>
        <p:txBody>
          <a:bodyPr/>
          <a:lstStyle/>
          <a:p>
            <a:pPr defTabSz="642915"/>
            <a:fld id="{B6F15528-21DE-4FAA-801E-634DDDAF4B2B}" type="slidenum">
              <a:rPr lang="fr-FR" smtClean="0"/>
              <a:pPr defTabSz="642915"/>
              <a:t>‹#›</a:t>
            </a:fld>
            <a:endParaRPr lang="fr-FR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8EC60B46-AB00-4542-BDF4-9DE4977B80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79"/>
          <a:stretch/>
        </p:blipFill>
        <p:spPr>
          <a:xfrm>
            <a:off x="772268" y="6184082"/>
            <a:ext cx="1221359" cy="350325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0B9E05E4-6E2C-D14C-B7A0-2B579E598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2381" y="1183436"/>
            <a:ext cx="10434907" cy="492443"/>
          </a:xfrm>
        </p:spPr>
        <p:txBody>
          <a:bodyPr/>
          <a:lstStyle>
            <a:lvl1pPr>
              <a:defRPr sz="3200" b="1"/>
            </a:lvl1pPr>
          </a:lstStyle>
          <a:p>
            <a:r>
              <a:rPr lang="fr-FR"/>
              <a:t>Sommaire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5F517415-63EF-5848-BA2F-F5C9597B900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2588" y="3003512"/>
            <a:ext cx="1727923" cy="230832"/>
          </a:xfrm>
        </p:spPr>
        <p:txBody>
          <a:bodyPr/>
          <a:lstStyle>
            <a:lvl1pPr marL="0" indent="0">
              <a:buFontTx/>
              <a:buNone/>
              <a:tabLst/>
              <a:defRPr sz="1500" b="1" i="0">
                <a:solidFill>
                  <a:schemeClr val="tx1"/>
                </a:solidFill>
                <a:latin typeface="Montserrat" pitchFamily="2" charset="77"/>
              </a:defRPr>
            </a:lvl1pPr>
            <a:lvl2pPr marL="404813" indent="-176213">
              <a:buClr>
                <a:srgbClr val="FD5E00"/>
              </a:buClr>
              <a:buFont typeface="+mj-lt"/>
              <a:buAutoNum type="alphaUcPeriod"/>
              <a:tabLst/>
              <a:defRPr sz="1200" b="1">
                <a:latin typeface="Lato" panose="020F0502020204030203" pitchFamily="34" charset="77"/>
              </a:defRPr>
            </a:lvl2pPr>
            <a:lvl3pPr marL="404813" indent="0">
              <a:tabLst/>
              <a:defRPr sz="1200">
                <a:latin typeface="Lato" panose="020F0502020204030203" pitchFamily="34" charset="77"/>
              </a:defRPr>
            </a:lvl3pPr>
            <a:lvl4pPr marL="534988" indent="-134938">
              <a:buClr>
                <a:srgbClr val="FD5E00"/>
              </a:buClr>
              <a:buSzPct val="125000"/>
              <a:buFont typeface="Arial" panose="020B0604020202020204" pitchFamily="34" charset="0"/>
              <a:buChar char="•"/>
              <a:tabLst/>
              <a:defRPr sz="1200">
                <a:latin typeface="Lato" panose="020F0502020204030203" pitchFamily="34" charset="77"/>
              </a:defRPr>
            </a:lvl4pPr>
            <a:lvl5pPr marL="534988" indent="0">
              <a:tabLst/>
              <a:defRPr sz="1000">
                <a:latin typeface="Lato" panose="020F0502020204030203" pitchFamily="34" charset="77"/>
              </a:defRPr>
            </a:lvl5pPr>
          </a:lstStyle>
          <a:p>
            <a:pPr lvl="0"/>
            <a:r>
              <a:rPr lang="fr-FR"/>
              <a:t>Titre du contenu</a:t>
            </a:r>
          </a:p>
        </p:txBody>
      </p:sp>
      <p:sp>
        <p:nvSpPr>
          <p:cNvPr id="8" name="Espace réservé du texte 7">
            <a:extLst>
              <a:ext uri="{FF2B5EF4-FFF2-40B4-BE49-F238E27FC236}">
                <a16:creationId xmlns:a16="http://schemas.microsoft.com/office/drawing/2014/main" id="{7C2707CA-1C51-6A49-BE98-8C04DFF9E73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90511" y="3111233"/>
            <a:ext cx="3195361" cy="107722"/>
          </a:xfrm>
        </p:spPr>
        <p:txBody>
          <a:bodyPr/>
          <a:lstStyle>
            <a:lvl1pPr marL="0" marR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7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/>
              <a:t>………………………………………………………………………………………………………………………………………</a:t>
            </a:r>
          </a:p>
        </p:txBody>
      </p:sp>
      <p:sp>
        <p:nvSpPr>
          <p:cNvPr id="12" name="Espace réservé du texte 11">
            <a:extLst>
              <a:ext uri="{FF2B5EF4-FFF2-40B4-BE49-F238E27FC236}">
                <a16:creationId xmlns:a16="http://schemas.microsoft.com/office/drawing/2014/main" id="{A581578B-EF47-A34B-BC85-BA19DD78E9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902586" y="3023260"/>
            <a:ext cx="509588" cy="215444"/>
          </a:xfrm>
        </p:spPr>
        <p:txBody>
          <a:bodyPr/>
          <a:lstStyle>
            <a:lvl1pPr>
              <a:defRPr b="1">
                <a:solidFill>
                  <a:srgbClr val="FD5E00"/>
                </a:solidFill>
              </a:defRPr>
            </a:lvl1pPr>
          </a:lstStyle>
          <a:p>
            <a:pPr lvl="0"/>
            <a:r>
              <a:rPr lang="fr-FR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31466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C19F7756-4486-3C4A-BF56-1F0E39282AD0}"/>
              </a:ext>
            </a:extLst>
          </p:cNvPr>
          <p:cNvSpPr/>
          <p:nvPr userDrawn="1"/>
        </p:nvSpPr>
        <p:spPr>
          <a:xfrm>
            <a:off x="0" y="0"/>
            <a:ext cx="4487333" cy="6852196"/>
          </a:xfrm>
          <a:custGeom>
            <a:avLst/>
            <a:gdLst/>
            <a:ahLst/>
            <a:cxnLst/>
            <a:rect l="l" t="t" r="r" b="b"/>
            <a:pathLst>
              <a:path w="6671945" h="9745345">
                <a:moveTo>
                  <a:pt x="6671843" y="0"/>
                </a:moveTo>
                <a:lnTo>
                  <a:pt x="0" y="0"/>
                </a:lnTo>
                <a:lnTo>
                  <a:pt x="0" y="9745243"/>
                </a:lnTo>
                <a:lnTo>
                  <a:pt x="6671843" y="9745243"/>
                </a:lnTo>
                <a:lnTo>
                  <a:pt x="667184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79467" y="1200376"/>
            <a:ext cx="3545511" cy="2228624"/>
          </a:xfrm>
        </p:spPr>
        <p:txBody>
          <a:bodyPr/>
          <a:lstStyle>
            <a:lvl1pPr marL="514350" indent="-514350">
              <a:buClr>
                <a:srgbClr val="FD5E00"/>
              </a:buClr>
              <a:buFont typeface="+mj-lt"/>
              <a:buAutoNum type="arabicPeriod"/>
              <a:defRPr sz="3200" b="1">
                <a:solidFill>
                  <a:srgbClr val="1A1A1A"/>
                </a:solidFill>
                <a:latin typeface="Montserrat" pitchFamily="2" charset="77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8A06B936-81D9-C14F-9291-0B95B6197E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73639" y="1718783"/>
            <a:ext cx="6343649" cy="1077218"/>
          </a:xfrm>
        </p:spPr>
        <p:txBody>
          <a:bodyPr wrap="square">
            <a:spAutoFit/>
          </a:bodyPr>
          <a:lstStyle>
            <a:lvl1pPr>
              <a:defRPr sz="1500" b="1">
                <a:latin typeface="Lato" panose="020F0502020204030203" pitchFamily="34" charset="77"/>
              </a:defRPr>
            </a:lvl1pPr>
            <a:lvl2pPr marL="7938" indent="0">
              <a:buClr>
                <a:srgbClr val="FD5E00"/>
              </a:buClr>
              <a:buFontTx/>
              <a:buNone/>
              <a:tabLst/>
              <a:defRPr sz="1500" b="0">
                <a:latin typeface="Lato" panose="020F0502020204030203" pitchFamily="34" charset="77"/>
              </a:defRPr>
            </a:lvl2pPr>
            <a:lvl3pPr marL="184150" indent="-177800">
              <a:buClr>
                <a:srgbClr val="FD5E00"/>
              </a:buClr>
              <a:buFont typeface="Wingdings" pitchFamily="2" charset="2"/>
              <a:buChar char="§"/>
              <a:tabLst/>
              <a:defRPr sz="1500" b="1" i="0">
                <a:latin typeface="Lato" panose="020F0502020204030203" pitchFamily="34" charset="77"/>
              </a:defRPr>
            </a:lvl3pPr>
            <a:lvl4pPr marL="184150" indent="0">
              <a:buClr>
                <a:srgbClr val="FD5E00"/>
              </a:buClr>
              <a:buFontTx/>
              <a:buNone/>
              <a:tabLst/>
              <a:defRPr sz="1300">
                <a:latin typeface="Lato" panose="020F0502020204030203" pitchFamily="34" charset="77"/>
              </a:defRPr>
            </a:lvl4pPr>
            <a:lvl5pPr marL="360363" indent="-176213">
              <a:buClr>
                <a:srgbClr val="FD5E00"/>
              </a:buClr>
              <a:buSzPct val="125000"/>
              <a:buFont typeface="Arial" panose="020B0604020202020204" pitchFamily="34" charset="0"/>
              <a:buChar char="•"/>
              <a:tabLst/>
              <a:defRPr sz="1200">
                <a:latin typeface="Lato" panose="020F0502020204030203" pitchFamily="34" charset="77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6495AC34-634C-EC40-B308-CA867505D6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650" y="651859"/>
            <a:ext cx="3541713" cy="169277"/>
          </a:xfrm>
        </p:spPr>
        <p:txBody>
          <a:bodyPr/>
          <a:lstStyle>
            <a:lvl1pPr>
              <a:defRPr sz="1100" b="0" i="0">
                <a:latin typeface="Lato" panose="020F0502020204030203" pitchFamily="34" charset="77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7CA4C8-8368-2844-9AF0-ACC6658DCB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9475" y="3517731"/>
            <a:ext cx="3544888" cy="461665"/>
          </a:xfrm>
        </p:spPr>
        <p:txBody>
          <a:bodyPr/>
          <a:lstStyle>
            <a:lvl1pPr>
              <a:defRPr sz="1500" b="0" i="0">
                <a:latin typeface="Lato" panose="020F0502020204030203" pitchFamily="34" charset="77"/>
              </a:defRPr>
            </a:lvl1pPr>
            <a:lvl2pPr marL="6350" indent="0">
              <a:tabLst/>
              <a:defRPr sz="1400" b="0" i="0">
                <a:latin typeface="Lato" panose="020F0502020204030203" pitchFamily="34" charset="77"/>
              </a:defRPr>
            </a:lvl2pPr>
          </a:lstStyle>
          <a:p>
            <a:pPr lvl="0"/>
            <a:r>
              <a:rPr lang="fr-FR"/>
              <a:t>Cliquez pour modifier les styles du texte du</a:t>
            </a:r>
          </a:p>
        </p:txBody>
      </p:sp>
      <p:sp>
        <p:nvSpPr>
          <p:cNvPr id="13" name="Espace réservé du pied de page 2">
            <a:extLst>
              <a:ext uri="{FF2B5EF4-FFF2-40B4-BE49-F238E27FC236}">
                <a16:creationId xmlns:a16="http://schemas.microsoft.com/office/drawing/2014/main" id="{669EAB71-B021-4E40-A13B-21735F6A17F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2382" y="6522203"/>
            <a:ext cx="5213617" cy="69250"/>
          </a:xfrm>
        </p:spPr>
        <p:txBody>
          <a:bodyPr/>
          <a:lstStyle>
            <a:lvl1pPr>
              <a:defRPr sz="450"/>
            </a:lvl1pPr>
          </a:lstStyle>
          <a:p>
            <a:pPr defTabSz="642915"/>
            <a:r>
              <a:rPr lang="fr-FR"/>
              <a:t>Titre présentation </a:t>
            </a:r>
            <a:r>
              <a:rPr lang="fr-FR" b="0"/>
              <a:t>- Décembre 2022</a:t>
            </a:r>
          </a:p>
        </p:txBody>
      </p:sp>
      <p:sp>
        <p:nvSpPr>
          <p:cNvPr id="14" name="Espace réservé du numéro de diapositive 3">
            <a:extLst>
              <a:ext uri="{FF2B5EF4-FFF2-40B4-BE49-F238E27FC236}">
                <a16:creationId xmlns:a16="http://schemas.microsoft.com/office/drawing/2014/main" id="{49CED751-FB5D-9D43-BE6C-1548442F91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908415" y="6406648"/>
            <a:ext cx="2804160" cy="153888"/>
          </a:xfrm>
        </p:spPr>
        <p:txBody>
          <a:bodyPr/>
          <a:lstStyle/>
          <a:p>
            <a:pPr defTabSz="642915"/>
            <a:fld id="{B6F15528-21DE-4FAA-801E-634DDDAF4B2B}" type="slidenum">
              <a:rPr lang="fr-FR" smtClean="0"/>
              <a:pPr defTabSz="642915"/>
              <a:t>‹#›</a:t>
            </a:fld>
            <a:endParaRPr lang="fr-FR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2ACE906-2F07-D449-9CF8-9C3B7522C7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79"/>
          <a:stretch/>
        </p:blipFill>
        <p:spPr>
          <a:xfrm>
            <a:off x="772268" y="6184082"/>
            <a:ext cx="1221359" cy="35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3992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pour une image  4">
            <a:extLst>
              <a:ext uri="{FF2B5EF4-FFF2-40B4-BE49-F238E27FC236}">
                <a16:creationId xmlns:a16="http://schemas.microsoft.com/office/drawing/2014/main" id="{A82668DC-87E3-984D-8F9E-431610493D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87332" y="-9662"/>
            <a:ext cx="7704667" cy="686766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C19F7756-4486-3C4A-BF56-1F0E39282AD0}"/>
              </a:ext>
            </a:extLst>
          </p:cNvPr>
          <p:cNvSpPr/>
          <p:nvPr userDrawn="1"/>
        </p:nvSpPr>
        <p:spPr>
          <a:xfrm>
            <a:off x="0" y="0"/>
            <a:ext cx="4487333" cy="6852196"/>
          </a:xfrm>
          <a:custGeom>
            <a:avLst/>
            <a:gdLst/>
            <a:ahLst/>
            <a:cxnLst/>
            <a:rect l="l" t="t" r="r" b="b"/>
            <a:pathLst>
              <a:path w="6671945" h="9745345">
                <a:moveTo>
                  <a:pt x="6671843" y="0"/>
                </a:moveTo>
                <a:lnTo>
                  <a:pt x="0" y="0"/>
                </a:lnTo>
                <a:lnTo>
                  <a:pt x="0" y="9745243"/>
                </a:lnTo>
                <a:lnTo>
                  <a:pt x="6671843" y="9745243"/>
                </a:lnTo>
                <a:lnTo>
                  <a:pt x="667184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79467" y="1200376"/>
            <a:ext cx="3545511" cy="2228624"/>
          </a:xfrm>
        </p:spPr>
        <p:txBody>
          <a:bodyPr/>
          <a:lstStyle>
            <a:lvl1pPr marL="514350" indent="-514350">
              <a:buClr>
                <a:srgbClr val="FD5E00"/>
              </a:buClr>
              <a:buFont typeface="+mj-lt"/>
              <a:buAutoNum type="arabicPeriod"/>
              <a:defRPr sz="3200" b="1">
                <a:solidFill>
                  <a:srgbClr val="1A1A1A"/>
                </a:solidFill>
                <a:latin typeface="Montserrat" pitchFamily="2" charset="77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6495AC34-634C-EC40-B308-CA867505D6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650" y="651859"/>
            <a:ext cx="3541713" cy="169277"/>
          </a:xfrm>
        </p:spPr>
        <p:txBody>
          <a:bodyPr/>
          <a:lstStyle>
            <a:lvl1pPr>
              <a:defRPr sz="1100" b="0" i="0">
                <a:latin typeface="Lato" panose="020F0502020204030203" pitchFamily="34" charset="77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7CA4C8-8368-2844-9AF0-ACC6658DCB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9475" y="3517731"/>
            <a:ext cx="3544888" cy="461665"/>
          </a:xfrm>
        </p:spPr>
        <p:txBody>
          <a:bodyPr/>
          <a:lstStyle>
            <a:lvl1pPr>
              <a:defRPr sz="1500" b="0" i="0">
                <a:latin typeface="Lato" panose="020F0502020204030203" pitchFamily="34" charset="77"/>
              </a:defRPr>
            </a:lvl1pPr>
            <a:lvl2pPr marL="6350" indent="0">
              <a:tabLst/>
              <a:defRPr sz="1400" b="0" i="0">
                <a:latin typeface="Lato" panose="020F0502020204030203" pitchFamily="34" charset="77"/>
              </a:defRPr>
            </a:lvl2pPr>
          </a:lstStyle>
          <a:p>
            <a:pPr lvl="0"/>
            <a:r>
              <a:rPr lang="fr-FR"/>
              <a:t>Cliquez pour modifier les styles du texte du</a:t>
            </a:r>
          </a:p>
        </p:txBody>
      </p:sp>
      <p:sp>
        <p:nvSpPr>
          <p:cNvPr id="13" name="Espace réservé du pied de page 2">
            <a:extLst>
              <a:ext uri="{FF2B5EF4-FFF2-40B4-BE49-F238E27FC236}">
                <a16:creationId xmlns:a16="http://schemas.microsoft.com/office/drawing/2014/main" id="{669EAB71-B021-4E40-A13B-21735F6A17F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2382" y="6522203"/>
            <a:ext cx="5213617" cy="69250"/>
          </a:xfrm>
        </p:spPr>
        <p:txBody>
          <a:bodyPr/>
          <a:lstStyle>
            <a:lvl1pPr>
              <a:defRPr sz="450"/>
            </a:lvl1pPr>
          </a:lstStyle>
          <a:p>
            <a:pPr defTabSz="642915"/>
            <a:r>
              <a:rPr lang="fr-FR"/>
              <a:t>Titre présentation </a:t>
            </a:r>
            <a:r>
              <a:rPr lang="fr-FR" b="0"/>
              <a:t>- Décembre 2022</a:t>
            </a:r>
          </a:p>
        </p:txBody>
      </p:sp>
      <p:sp>
        <p:nvSpPr>
          <p:cNvPr id="14" name="Espace réservé du numéro de diapositive 3">
            <a:extLst>
              <a:ext uri="{FF2B5EF4-FFF2-40B4-BE49-F238E27FC236}">
                <a16:creationId xmlns:a16="http://schemas.microsoft.com/office/drawing/2014/main" id="{49CED751-FB5D-9D43-BE6C-1548442F91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908415" y="6406648"/>
            <a:ext cx="2804160" cy="153888"/>
          </a:xfrm>
        </p:spPr>
        <p:txBody>
          <a:bodyPr/>
          <a:lstStyle/>
          <a:p>
            <a:pPr defTabSz="642915"/>
            <a:fld id="{B6F15528-21DE-4FAA-801E-634DDDAF4B2B}" type="slidenum">
              <a:rPr lang="fr-FR" smtClean="0"/>
              <a:pPr defTabSz="642915"/>
              <a:t>‹#›</a:t>
            </a:fld>
            <a:endParaRPr lang="fr-FR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2ACE906-2F07-D449-9CF8-9C3B7522C7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79"/>
          <a:stretch/>
        </p:blipFill>
        <p:spPr>
          <a:xfrm>
            <a:off x="772268" y="6184082"/>
            <a:ext cx="1221359" cy="35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4803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e 2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6F6CA2F-7488-FC48-B37F-94B8D65215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650" y="643150"/>
            <a:ext cx="3808413" cy="169277"/>
          </a:xfrm>
        </p:spPr>
        <p:txBody>
          <a:bodyPr/>
          <a:lstStyle>
            <a:lvl1pPr>
              <a:defRPr sz="1100" b="0" i="0">
                <a:latin typeface="Lato" panose="020F0502020204030203" pitchFamily="34" charset="77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41427DB-C629-3E4F-923C-44FAAA8A1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381" y="1137423"/>
            <a:ext cx="10434907" cy="461665"/>
          </a:xfrm>
        </p:spPr>
        <p:txBody>
          <a:bodyPr/>
          <a:lstStyle>
            <a:lvl1pPr>
              <a:defRPr sz="3000" b="1" i="0">
                <a:latin typeface="Montserrat" pitchFamily="2" charset="77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1" name="Espace réservé du texte 14">
            <a:extLst>
              <a:ext uri="{FF2B5EF4-FFF2-40B4-BE49-F238E27FC236}">
                <a16:creationId xmlns:a16="http://schemas.microsoft.com/office/drawing/2014/main" id="{E756EF93-213C-5E45-B078-DE4ED2B760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82383" y="2553432"/>
            <a:ext cx="10434906" cy="1077218"/>
          </a:xfrm>
        </p:spPr>
        <p:txBody>
          <a:bodyPr wrap="square" numCol="2" spcCol="720000">
            <a:spAutoFit/>
          </a:bodyPr>
          <a:lstStyle>
            <a:lvl1pPr>
              <a:defRPr sz="1500" b="1">
                <a:latin typeface="Lato" panose="020F0502020204030203" pitchFamily="34" charset="77"/>
              </a:defRPr>
            </a:lvl1pPr>
            <a:lvl2pPr marL="7938" indent="0">
              <a:buClr>
                <a:srgbClr val="FD5E00"/>
              </a:buClr>
              <a:buFontTx/>
              <a:buNone/>
              <a:tabLst/>
              <a:defRPr sz="1500" b="0">
                <a:latin typeface="Lato" panose="020F0502020204030203" pitchFamily="34" charset="77"/>
              </a:defRPr>
            </a:lvl2pPr>
            <a:lvl3pPr marL="184150" indent="-177800">
              <a:buClr>
                <a:srgbClr val="FD5E00"/>
              </a:buClr>
              <a:buFont typeface="Wingdings" pitchFamily="2" charset="2"/>
              <a:buChar char="§"/>
              <a:tabLst/>
              <a:defRPr sz="1500" b="1" i="0">
                <a:latin typeface="Lato" panose="020F0502020204030203" pitchFamily="34" charset="77"/>
              </a:defRPr>
            </a:lvl3pPr>
            <a:lvl4pPr marL="184150" indent="0">
              <a:buClr>
                <a:srgbClr val="FD5E00"/>
              </a:buClr>
              <a:buFontTx/>
              <a:buNone/>
              <a:tabLst/>
              <a:defRPr sz="1300">
                <a:latin typeface="Lato" panose="020F0502020204030203" pitchFamily="34" charset="77"/>
              </a:defRPr>
            </a:lvl4pPr>
            <a:lvl5pPr marL="360363" indent="-176213">
              <a:buClr>
                <a:srgbClr val="FD5E00"/>
              </a:buClr>
              <a:buSzPct val="125000"/>
              <a:buFont typeface="Arial" panose="020B0604020202020204" pitchFamily="34" charset="0"/>
              <a:buChar char="•"/>
              <a:tabLst/>
              <a:defRPr sz="1200">
                <a:latin typeface="Lato" panose="020F0502020204030203" pitchFamily="34" charset="77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14" name="Espace réservé du pied de page 2">
            <a:extLst>
              <a:ext uri="{FF2B5EF4-FFF2-40B4-BE49-F238E27FC236}">
                <a16:creationId xmlns:a16="http://schemas.microsoft.com/office/drawing/2014/main" id="{CACF6173-677E-8149-A9F7-ED1DCC03DEA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2382" y="6522203"/>
            <a:ext cx="5213617" cy="69250"/>
          </a:xfrm>
        </p:spPr>
        <p:txBody>
          <a:bodyPr/>
          <a:lstStyle>
            <a:lvl1pPr>
              <a:defRPr sz="450"/>
            </a:lvl1pPr>
          </a:lstStyle>
          <a:p>
            <a:pPr defTabSz="642915"/>
            <a:r>
              <a:rPr lang="fr-FR"/>
              <a:t>Titre présentation </a:t>
            </a:r>
            <a:r>
              <a:rPr lang="fr-FR" b="0"/>
              <a:t>- Décembre 2022</a:t>
            </a:r>
          </a:p>
        </p:txBody>
      </p: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0DAC81DC-6CBC-2D40-8F3D-E7B90D65E6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908415" y="6406648"/>
            <a:ext cx="2804160" cy="153888"/>
          </a:xfrm>
        </p:spPr>
        <p:txBody>
          <a:bodyPr/>
          <a:lstStyle/>
          <a:p>
            <a:pPr defTabSz="642915"/>
            <a:fld id="{B6F15528-21DE-4FAA-801E-634DDDAF4B2B}" type="slidenum">
              <a:rPr lang="fr-FR" smtClean="0"/>
              <a:pPr defTabSz="642915"/>
              <a:t>‹#›</a:t>
            </a:fld>
            <a:endParaRPr lang="fr-FR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62FBAD33-472D-194A-BF55-E049F7B89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79"/>
          <a:stretch/>
        </p:blipFill>
        <p:spPr>
          <a:xfrm>
            <a:off x="772268" y="6184082"/>
            <a:ext cx="1221359" cy="35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61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4">
            <a:extLst>
              <a:ext uri="{FF2B5EF4-FFF2-40B4-BE49-F238E27FC236}">
                <a16:creationId xmlns:a16="http://schemas.microsoft.com/office/drawing/2014/main" id="{D1F99319-02E4-B34E-9DA6-EF2C6BCB90A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5999" y="-9662"/>
            <a:ext cx="6096000" cy="6867661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6F6CA2F-7488-FC48-B37F-94B8D65215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650" y="643150"/>
            <a:ext cx="3808413" cy="169277"/>
          </a:xfrm>
        </p:spPr>
        <p:txBody>
          <a:bodyPr/>
          <a:lstStyle>
            <a:lvl1pPr>
              <a:defRPr sz="1100" b="0" i="0">
                <a:latin typeface="Lato" panose="020F0502020204030203" pitchFamily="34" charset="77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41427DB-C629-3E4F-923C-44FAAA8A1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381" y="1137423"/>
            <a:ext cx="5213619" cy="461665"/>
          </a:xfrm>
        </p:spPr>
        <p:txBody>
          <a:bodyPr/>
          <a:lstStyle>
            <a:lvl1pPr>
              <a:defRPr sz="3000" b="1" i="0">
                <a:latin typeface="Montserrat" pitchFamily="2" charset="77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4" name="Espace réservé du pied de page 2">
            <a:extLst>
              <a:ext uri="{FF2B5EF4-FFF2-40B4-BE49-F238E27FC236}">
                <a16:creationId xmlns:a16="http://schemas.microsoft.com/office/drawing/2014/main" id="{CACF6173-677E-8149-A9F7-ED1DCC03DEA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2382" y="6522203"/>
            <a:ext cx="5213617" cy="69250"/>
          </a:xfrm>
        </p:spPr>
        <p:txBody>
          <a:bodyPr/>
          <a:lstStyle>
            <a:lvl1pPr>
              <a:defRPr sz="450"/>
            </a:lvl1pPr>
          </a:lstStyle>
          <a:p>
            <a:pPr defTabSz="642915"/>
            <a:r>
              <a:rPr lang="fr-FR"/>
              <a:t>Titre présentation </a:t>
            </a:r>
            <a:r>
              <a:rPr lang="fr-FR" b="0"/>
              <a:t>- Décembre 2022</a:t>
            </a:r>
          </a:p>
        </p:txBody>
      </p: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0DAC81DC-6CBC-2D40-8F3D-E7B90D65E6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908415" y="6406648"/>
            <a:ext cx="2804160" cy="153888"/>
          </a:xfrm>
        </p:spPr>
        <p:txBody>
          <a:bodyPr/>
          <a:lstStyle/>
          <a:p>
            <a:pPr defTabSz="642915"/>
            <a:fld id="{B6F15528-21DE-4FAA-801E-634DDDAF4B2B}" type="slidenum">
              <a:rPr lang="fr-FR" smtClean="0"/>
              <a:pPr defTabSz="642915"/>
              <a:t>‹#›</a:t>
            </a:fld>
            <a:endParaRPr lang="fr-FR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62FBAD33-472D-194A-BF55-E049F7B89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79"/>
          <a:stretch/>
        </p:blipFill>
        <p:spPr>
          <a:xfrm>
            <a:off x="772268" y="6184082"/>
            <a:ext cx="1221359" cy="35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240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pied de page 2">
            <a:extLst>
              <a:ext uri="{FF2B5EF4-FFF2-40B4-BE49-F238E27FC236}">
                <a16:creationId xmlns:a16="http://schemas.microsoft.com/office/drawing/2014/main" id="{C20FD836-A5E0-DD46-8D4D-6F6A3050CAE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2382" y="6522203"/>
            <a:ext cx="5213617" cy="69250"/>
          </a:xfrm>
        </p:spPr>
        <p:txBody>
          <a:bodyPr/>
          <a:lstStyle>
            <a:lvl1pPr>
              <a:defRPr sz="450"/>
            </a:lvl1pPr>
          </a:lstStyle>
          <a:p>
            <a:pPr defTabSz="642915"/>
            <a:r>
              <a:rPr lang="fr-FR"/>
              <a:t>Titre présentation </a:t>
            </a:r>
            <a:r>
              <a:rPr lang="fr-FR" b="0"/>
              <a:t>- Décembre 2022</a:t>
            </a:r>
          </a:p>
        </p:txBody>
      </p:sp>
      <p:sp>
        <p:nvSpPr>
          <p:cNvPr id="7" name="Espace réservé du numéro de diapositive 3">
            <a:extLst>
              <a:ext uri="{FF2B5EF4-FFF2-40B4-BE49-F238E27FC236}">
                <a16:creationId xmlns:a16="http://schemas.microsoft.com/office/drawing/2014/main" id="{83C8C940-EAA1-E34B-9E55-D0E83262C2D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908415" y="6406648"/>
            <a:ext cx="2804160" cy="153888"/>
          </a:xfrm>
        </p:spPr>
        <p:txBody>
          <a:bodyPr/>
          <a:lstStyle/>
          <a:p>
            <a:pPr defTabSz="642915"/>
            <a:fld id="{B6F15528-21DE-4FAA-801E-634DDDAF4B2B}" type="slidenum">
              <a:rPr lang="fr-FR" smtClean="0"/>
              <a:pPr defTabSz="642915"/>
              <a:t>‹#›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6000B38-63F7-7343-8C16-34B66565CB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79"/>
          <a:stretch/>
        </p:blipFill>
        <p:spPr>
          <a:xfrm>
            <a:off x="772268" y="6184082"/>
            <a:ext cx="1221359" cy="350325"/>
          </a:xfrm>
          <a:prstGeom prst="rect">
            <a:avLst/>
          </a:prstGeom>
        </p:spPr>
      </p:pic>
      <p:sp>
        <p:nvSpPr>
          <p:cNvPr id="10" name="Espace réservé pour une image  4">
            <a:extLst>
              <a:ext uri="{FF2B5EF4-FFF2-40B4-BE49-F238E27FC236}">
                <a16:creationId xmlns:a16="http://schemas.microsoft.com/office/drawing/2014/main" id="{9C35BF76-BAD0-9E47-AAA6-FDA923DFB78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21133" y="905933"/>
            <a:ext cx="3369734" cy="5046134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fr-FR"/>
          </a:p>
        </p:txBody>
      </p:sp>
      <p:sp>
        <p:nvSpPr>
          <p:cNvPr id="11" name="Espace réservé pour une image  4">
            <a:extLst>
              <a:ext uri="{FF2B5EF4-FFF2-40B4-BE49-F238E27FC236}">
                <a16:creationId xmlns:a16="http://schemas.microsoft.com/office/drawing/2014/main" id="{2C27BD95-31B0-6043-9E7E-0DB0021EB71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1133" y="905933"/>
            <a:ext cx="7543801" cy="5046134"/>
          </a:xfrm>
          <a:solidFill>
            <a:schemeClr val="bg1">
              <a:lumMod val="85000"/>
            </a:schemeClr>
          </a:solidFill>
        </p:spPr>
        <p:txBody>
          <a:bodyPr anchor="ctr"/>
          <a:lstStyle>
            <a:lvl1pPr algn="ctr">
              <a:defRPr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3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graphiqu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A6F6CA2F-7488-FC48-B37F-94B8D65215B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650" y="643150"/>
            <a:ext cx="3808413" cy="169277"/>
          </a:xfrm>
        </p:spPr>
        <p:txBody>
          <a:bodyPr/>
          <a:lstStyle>
            <a:lvl1pPr>
              <a:defRPr sz="1100" b="0" i="0">
                <a:latin typeface="Lato" panose="020F0502020204030203" pitchFamily="34" charset="77"/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41427DB-C629-3E4F-923C-44FAAA8A19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381" y="1137423"/>
            <a:ext cx="10434907" cy="461665"/>
          </a:xfrm>
        </p:spPr>
        <p:txBody>
          <a:bodyPr/>
          <a:lstStyle>
            <a:lvl1pPr>
              <a:defRPr sz="3000" b="1" i="0">
                <a:latin typeface="Montserrat" pitchFamily="2" charset="77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1" name="Espace réservé du texte 14">
            <a:extLst>
              <a:ext uri="{FF2B5EF4-FFF2-40B4-BE49-F238E27FC236}">
                <a16:creationId xmlns:a16="http://schemas.microsoft.com/office/drawing/2014/main" id="{E756EF93-213C-5E45-B078-DE4ED2B7606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02352" y="1974423"/>
            <a:ext cx="4990448" cy="738664"/>
          </a:xfrm>
        </p:spPr>
        <p:txBody>
          <a:bodyPr wrap="square" numCol="1">
            <a:spAutoFit/>
          </a:bodyPr>
          <a:lstStyle>
            <a:lvl1pPr algn="ctr">
              <a:defRPr sz="1800" b="1">
                <a:latin typeface="Montserrat" pitchFamily="2" charset="77"/>
              </a:defRPr>
            </a:lvl1pPr>
            <a:lvl2pPr marL="7938" indent="0" algn="ctr">
              <a:buClr>
                <a:srgbClr val="FD5E00"/>
              </a:buClr>
              <a:buFontTx/>
              <a:buNone/>
              <a:tabLst/>
              <a:defRPr sz="1200" b="0">
                <a:latin typeface="Montserrat" pitchFamily="2" charset="77"/>
              </a:defRPr>
            </a:lvl2pPr>
            <a:lvl3pPr marL="184150" indent="-177800">
              <a:buClr>
                <a:srgbClr val="FD5E00"/>
              </a:buClr>
              <a:buFont typeface="Wingdings" pitchFamily="2" charset="2"/>
              <a:buChar char="§"/>
              <a:tabLst/>
              <a:defRPr sz="1500" b="1" i="0">
                <a:latin typeface="Lato" panose="020F0502020204030203" pitchFamily="34" charset="77"/>
              </a:defRPr>
            </a:lvl3pPr>
            <a:lvl4pPr marL="184150" indent="0">
              <a:buClr>
                <a:srgbClr val="FD5E00"/>
              </a:buClr>
              <a:buFontTx/>
              <a:buNone/>
              <a:tabLst/>
              <a:defRPr sz="1300">
                <a:latin typeface="Lato" panose="020F0502020204030203" pitchFamily="34" charset="77"/>
              </a:defRPr>
            </a:lvl4pPr>
            <a:lvl5pPr marL="360363" indent="-176213">
              <a:buClr>
                <a:srgbClr val="FD5E00"/>
              </a:buClr>
              <a:buSzPct val="125000"/>
              <a:buFont typeface="Arial" panose="020B0604020202020204" pitchFamily="34" charset="0"/>
              <a:buChar char="•"/>
              <a:tabLst/>
              <a:defRPr sz="1200">
                <a:latin typeface="Lato" panose="020F0502020204030203" pitchFamily="34" charset="77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4" name="Espace réservé du pied de page 2">
            <a:extLst>
              <a:ext uri="{FF2B5EF4-FFF2-40B4-BE49-F238E27FC236}">
                <a16:creationId xmlns:a16="http://schemas.microsoft.com/office/drawing/2014/main" id="{CACF6173-677E-8149-A9F7-ED1DCC03DEA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2382" y="6522203"/>
            <a:ext cx="5213617" cy="69250"/>
          </a:xfrm>
        </p:spPr>
        <p:txBody>
          <a:bodyPr/>
          <a:lstStyle>
            <a:lvl1pPr>
              <a:defRPr sz="450"/>
            </a:lvl1pPr>
          </a:lstStyle>
          <a:p>
            <a:pPr defTabSz="642915"/>
            <a:r>
              <a:rPr lang="fr-FR"/>
              <a:t>Titre présentation </a:t>
            </a:r>
            <a:r>
              <a:rPr lang="fr-FR" b="0"/>
              <a:t>- Décembre 2022</a:t>
            </a:r>
          </a:p>
        </p:txBody>
      </p:sp>
      <p:sp>
        <p:nvSpPr>
          <p:cNvPr id="18" name="Espace réservé du numéro de diapositive 3">
            <a:extLst>
              <a:ext uri="{FF2B5EF4-FFF2-40B4-BE49-F238E27FC236}">
                <a16:creationId xmlns:a16="http://schemas.microsoft.com/office/drawing/2014/main" id="{0DAC81DC-6CBC-2D40-8F3D-E7B90D65E6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908415" y="6406648"/>
            <a:ext cx="2804160" cy="153888"/>
          </a:xfrm>
        </p:spPr>
        <p:txBody>
          <a:bodyPr/>
          <a:lstStyle/>
          <a:p>
            <a:pPr defTabSz="642915"/>
            <a:fld id="{B6F15528-21DE-4FAA-801E-634DDDAF4B2B}" type="slidenum">
              <a:rPr lang="fr-FR" smtClean="0"/>
              <a:pPr defTabSz="642915"/>
              <a:t>‹#›</a:t>
            </a:fld>
            <a:endParaRPr lang="fr-FR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62FBAD33-472D-194A-BF55-E049F7B89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79"/>
          <a:stretch/>
        </p:blipFill>
        <p:spPr>
          <a:xfrm>
            <a:off x="772268" y="6184082"/>
            <a:ext cx="1221359" cy="350325"/>
          </a:xfrm>
          <a:prstGeom prst="rect">
            <a:avLst/>
          </a:prstGeom>
        </p:spPr>
      </p:pic>
      <p:sp>
        <p:nvSpPr>
          <p:cNvPr id="4" name="Espace réservé du graphique 3">
            <a:extLst>
              <a:ext uri="{FF2B5EF4-FFF2-40B4-BE49-F238E27FC236}">
                <a16:creationId xmlns:a16="http://schemas.microsoft.com/office/drawing/2014/main" id="{BC61CFED-8B1B-7A40-ABA0-17EF21D6682C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874713" y="2518818"/>
            <a:ext cx="5221287" cy="3496204"/>
          </a:xfrm>
        </p:spPr>
        <p:txBody>
          <a:bodyPr anchor="ctr"/>
          <a:lstStyle>
            <a:lvl1pPr algn="ctr">
              <a:defRPr sz="1200" b="1"/>
            </a:lvl1pPr>
          </a:lstStyle>
          <a:p>
            <a:endParaRPr lang="fr-FR"/>
          </a:p>
        </p:txBody>
      </p:sp>
      <p:sp>
        <p:nvSpPr>
          <p:cNvPr id="10" name="Espace réservé du texte 14">
            <a:extLst>
              <a:ext uri="{FF2B5EF4-FFF2-40B4-BE49-F238E27FC236}">
                <a16:creationId xmlns:a16="http://schemas.microsoft.com/office/drawing/2014/main" id="{94AAF32B-96E2-1440-A31B-D23A33DEC12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99201" y="1974423"/>
            <a:ext cx="5018087" cy="738664"/>
          </a:xfrm>
        </p:spPr>
        <p:txBody>
          <a:bodyPr wrap="square" numCol="1">
            <a:spAutoFit/>
          </a:bodyPr>
          <a:lstStyle>
            <a:lvl1pPr algn="ctr">
              <a:defRPr sz="1800" b="1">
                <a:latin typeface="Montserrat" pitchFamily="2" charset="77"/>
              </a:defRPr>
            </a:lvl1pPr>
            <a:lvl2pPr marL="7938" indent="0" algn="ctr">
              <a:buClr>
                <a:srgbClr val="FD5E00"/>
              </a:buClr>
              <a:buFontTx/>
              <a:buNone/>
              <a:tabLst/>
              <a:defRPr sz="1200" b="0">
                <a:latin typeface="Montserrat" pitchFamily="2" charset="77"/>
              </a:defRPr>
            </a:lvl2pPr>
            <a:lvl3pPr marL="184150" indent="-177800">
              <a:buClr>
                <a:srgbClr val="FD5E00"/>
              </a:buClr>
              <a:buFont typeface="Wingdings" pitchFamily="2" charset="2"/>
              <a:buChar char="§"/>
              <a:tabLst/>
              <a:defRPr sz="1500" b="1" i="0">
                <a:latin typeface="Lato" panose="020F0502020204030203" pitchFamily="34" charset="77"/>
              </a:defRPr>
            </a:lvl3pPr>
            <a:lvl4pPr marL="184150" indent="0">
              <a:buClr>
                <a:srgbClr val="FD5E00"/>
              </a:buClr>
              <a:buFontTx/>
              <a:buNone/>
              <a:tabLst/>
              <a:defRPr sz="1300">
                <a:latin typeface="Lato" panose="020F0502020204030203" pitchFamily="34" charset="77"/>
              </a:defRPr>
            </a:lvl4pPr>
            <a:lvl5pPr marL="360363" indent="-176213">
              <a:buClr>
                <a:srgbClr val="FD5E00"/>
              </a:buClr>
              <a:buSzPct val="125000"/>
              <a:buFont typeface="Arial" panose="020B0604020202020204" pitchFamily="34" charset="0"/>
              <a:buChar char="•"/>
              <a:tabLst/>
              <a:defRPr sz="1200">
                <a:latin typeface="Lato" panose="020F0502020204030203" pitchFamily="34" charset="77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2" name="Espace réservé du graphique 3">
            <a:extLst>
              <a:ext uri="{FF2B5EF4-FFF2-40B4-BE49-F238E27FC236}">
                <a16:creationId xmlns:a16="http://schemas.microsoft.com/office/drawing/2014/main" id="{625576A1-D4AD-FF4B-AD5D-D177BCE2CE1A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107113" y="2518818"/>
            <a:ext cx="5221287" cy="3496204"/>
          </a:xfrm>
        </p:spPr>
        <p:txBody>
          <a:bodyPr anchor="ctr"/>
          <a:lstStyle>
            <a:lvl1pPr algn="ctr">
              <a:defRPr sz="1200" b="1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8147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+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2">
            <a:extLst>
              <a:ext uri="{FF2B5EF4-FFF2-40B4-BE49-F238E27FC236}">
                <a16:creationId xmlns:a16="http://schemas.microsoft.com/office/drawing/2014/main" id="{C19F7756-4486-3C4A-BF56-1F0E39282AD0}"/>
              </a:ext>
            </a:extLst>
          </p:cNvPr>
          <p:cNvSpPr/>
          <p:nvPr userDrawn="1"/>
        </p:nvSpPr>
        <p:spPr>
          <a:xfrm>
            <a:off x="0" y="0"/>
            <a:ext cx="4487333" cy="6852196"/>
          </a:xfrm>
          <a:custGeom>
            <a:avLst/>
            <a:gdLst/>
            <a:ahLst/>
            <a:cxnLst/>
            <a:rect l="l" t="t" r="r" b="b"/>
            <a:pathLst>
              <a:path w="6671945" h="9745345">
                <a:moveTo>
                  <a:pt x="6671843" y="0"/>
                </a:moveTo>
                <a:lnTo>
                  <a:pt x="0" y="0"/>
                </a:lnTo>
                <a:lnTo>
                  <a:pt x="0" y="9745243"/>
                </a:lnTo>
                <a:lnTo>
                  <a:pt x="6671843" y="9745243"/>
                </a:lnTo>
                <a:lnTo>
                  <a:pt x="6671843" y="0"/>
                </a:lnTo>
                <a:close/>
              </a:path>
            </a:pathLst>
          </a:custGeom>
          <a:solidFill>
            <a:srgbClr val="F2F2F2"/>
          </a:solidFill>
        </p:spPr>
        <p:txBody>
          <a:bodyPr wrap="square" lIns="0" tIns="0" rIns="0" bIns="0" rtlCol="0"/>
          <a:lstStyle/>
          <a:p>
            <a:endParaRPr sz="1266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79467" y="1200376"/>
            <a:ext cx="3545511" cy="2228624"/>
          </a:xfrm>
        </p:spPr>
        <p:txBody>
          <a:bodyPr/>
          <a:lstStyle>
            <a:lvl1pPr marL="514350" indent="-514350">
              <a:buClr>
                <a:srgbClr val="FD5E00"/>
              </a:buClr>
              <a:buFont typeface="+mj-lt"/>
              <a:buAutoNum type="arabicPeriod"/>
              <a:defRPr sz="3200" b="1">
                <a:solidFill>
                  <a:srgbClr val="1A1A1A"/>
                </a:solidFill>
                <a:latin typeface="Montserrat" pitchFamily="2" charset="77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5" name="Espace réservé du texte 14">
            <a:extLst>
              <a:ext uri="{FF2B5EF4-FFF2-40B4-BE49-F238E27FC236}">
                <a16:creationId xmlns:a16="http://schemas.microsoft.com/office/drawing/2014/main" id="{8A06B936-81D9-C14F-9291-0B95B6197E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73639" y="1200376"/>
            <a:ext cx="6343649" cy="461665"/>
          </a:xfrm>
        </p:spPr>
        <p:txBody>
          <a:bodyPr wrap="square">
            <a:spAutoFit/>
          </a:bodyPr>
          <a:lstStyle>
            <a:lvl1pPr>
              <a:defRPr sz="1500" b="1">
                <a:latin typeface="Lato" panose="020F0502020204030203" pitchFamily="34" charset="77"/>
              </a:defRPr>
            </a:lvl1pPr>
            <a:lvl2pPr marL="7938" indent="0">
              <a:buClr>
                <a:srgbClr val="FD5E00"/>
              </a:buClr>
              <a:buFontTx/>
              <a:buNone/>
              <a:tabLst/>
              <a:defRPr sz="1500" b="0">
                <a:latin typeface="Lato" panose="020F0502020204030203" pitchFamily="34" charset="77"/>
              </a:defRPr>
            </a:lvl2pPr>
            <a:lvl3pPr marL="184150" indent="-177800">
              <a:buClr>
                <a:srgbClr val="FD5E00"/>
              </a:buClr>
              <a:buFont typeface="Wingdings" pitchFamily="2" charset="2"/>
              <a:buChar char="§"/>
              <a:tabLst/>
              <a:defRPr sz="1500" b="1" i="0">
                <a:latin typeface="Lato" panose="020F0502020204030203" pitchFamily="34" charset="77"/>
              </a:defRPr>
            </a:lvl3pPr>
            <a:lvl4pPr marL="184150" indent="0">
              <a:buClr>
                <a:srgbClr val="FD5E00"/>
              </a:buClr>
              <a:buFontTx/>
              <a:buNone/>
              <a:tabLst/>
              <a:defRPr sz="1300">
                <a:latin typeface="Lato" panose="020F0502020204030203" pitchFamily="34" charset="77"/>
              </a:defRPr>
            </a:lvl4pPr>
            <a:lvl5pPr marL="360363" indent="-176213">
              <a:buClr>
                <a:srgbClr val="FD5E00"/>
              </a:buClr>
              <a:buSzPct val="125000"/>
              <a:buFont typeface="Arial" panose="020B0604020202020204" pitchFamily="34" charset="0"/>
              <a:buChar char="•"/>
              <a:tabLst/>
              <a:defRPr sz="1200">
                <a:latin typeface="Lato" panose="020F0502020204030203" pitchFamily="34" charset="77"/>
              </a:defRPr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7" name="Espace réservé du texte 16">
            <a:extLst>
              <a:ext uri="{FF2B5EF4-FFF2-40B4-BE49-F238E27FC236}">
                <a16:creationId xmlns:a16="http://schemas.microsoft.com/office/drawing/2014/main" id="{6495AC34-634C-EC40-B308-CA867505D6E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82650" y="651859"/>
            <a:ext cx="3541713" cy="169277"/>
          </a:xfrm>
        </p:spPr>
        <p:txBody>
          <a:bodyPr/>
          <a:lstStyle>
            <a:lvl1pPr>
              <a:defRPr sz="1100" b="0" i="0">
                <a:latin typeface="Lato" panose="020F0502020204030203" pitchFamily="34" charset="77"/>
              </a:defRPr>
            </a:lvl1pPr>
          </a:lstStyle>
          <a:p>
            <a:pPr lvl="0"/>
            <a:r>
              <a:rPr lang="fr-FR"/>
              <a:t>Titre du chapitre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47CA4C8-8368-2844-9AF0-ACC6658DCB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9475" y="3517731"/>
            <a:ext cx="3544888" cy="461665"/>
          </a:xfrm>
        </p:spPr>
        <p:txBody>
          <a:bodyPr/>
          <a:lstStyle>
            <a:lvl1pPr>
              <a:defRPr sz="1500" b="0" i="0">
                <a:latin typeface="Lato" panose="020F0502020204030203" pitchFamily="34" charset="77"/>
              </a:defRPr>
            </a:lvl1pPr>
            <a:lvl2pPr marL="6350" indent="0">
              <a:tabLst/>
              <a:defRPr sz="1400" b="0" i="0">
                <a:latin typeface="Lato" panose="020F0502020204030203" pitchFamily="34" charset="77"/>
              </a:defRPr>
            </a:lvl2pPr>
          </a:lstStyle>
          <a:p>
            <a:pPr lvl="0"/>
            <a:r>
              <a:rPr lang="fr-FR"/>
              <a:t>Cliquez pour modifier les styles du texte du</a:t>
            </a:r>
          </a:p>
        </p:txBody>
      </p:sp>
      <p:sp>
        <p:nvSpPr>
          <p:cNvPr id="13" name="Espace réservé du pied de page 2">
            <a:extLst>
              <a:ext uri="{FF2B5EF4-FFF2-40B4-BE49-F238E27FC236}">
                <a16:creationId xmlns:a16="http://schemas.microsoft.com/office/drawing/2014/main" id="{669EAB71-B021-4E40-A13B-21735F6A17F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82382" y="6522203"/>
            <a:ext cx="5213617" cy="69250"/>
          </a:xfrm>
        </p:spPr>
        <p:txBody>
          <a:bodyPr/>
          <a:lstStyle>
            <a:lvl1pPr>
              <a:defRPr sz="450"/>
            </a:lvl1pPr>
          </a:lstStyle>
          <a:p>
            <a:pPr defTabSz="642915"/>
            <a:r>
              <a:rPr lang="fr-FR"/>
              <a:t>Titre présentation </a:t>
            </a:r>
            <a:r>
              <a:rPr lang="fr-FR" b="0"/>
              <a:t>- Décembre 2022</a:t>
            </a:r>
          </a:p>
        </p:txBody>
      </p:sp>
      <p:sp>
        <p:nvSpPr>
          <p:cNvPr id="14" name="Espace réservé du numéro de diapositive 3">
            <a:extLst>
              <a:ext uri="{FF2B5EF4-FFF2-40B4-BE49-F238E27FC236}">
                <a16:creationId xmlns:a16="http://schemas.microsoft.com/office/drawing/2014/main" id="{49CED751-FB5D-9D43-BE6C-1548442F91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908415" y="6406648"/>
            <a:ext cx="2804160" cy="153888"/>
          </a:xfrm>
        </p:spPr>
        <p:txBody>
          <a:bodyPr/>
          <a:lstStyle/>
          <a:p>
            <a:pPr defTabSz="642915"/>
            <a:fld id="{B6F15528-21DE-4FAA-801E-634DDDAF4B2B}" type="slidenum">
              <a:rPr lang="fr-FR" smtClean="0"/>
              <a:pPr defTabSz="642915"/>
              <a:t>‹#›</a:t>
            </a:fld>
            <a:endParaRPr lang="fr-FR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22ACE906-2F07-D449-9CF8-9C3B7522C77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79"/>
          <a:stretch/>
        </p:blipFill>
        <p:spPr>
          <a:xfrm>
            <a:off x="772268" y="6184082"/>
            <a:ext cx="1221359" cy="350325"/>
          </a:xfrm>
          <a:prstGeom prst="rect">
            <a:avLst/>
          </a:prstGeom>
        </p:spPr>
      </p:pic>
      <p:sp>
        <p:nvSpPr>
          <p:cNvPr id="5" name="Espace réservé du tableau 4">
            <a:extLst>
              <a:ext uri="{FF2B5EF4-FFF2-40B4-BE49-F238E27FC236}">
                <a16:creationId xmlns:a16="http://schemas.microsoft.com/office/drawing/2014/main" id="{AE788759-E748-D848-AC90-AF873732D2FB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4973638" y="1801326"/>
            <a:ext cx="6343650" cy="4460133"/>
          </a:xfrm>
        </p:spPr>
        <p:txBody>
          <a:bodyPr anchor="ctr"/>
          <a:lstStyle>
            <a:lvl1pPr algn="ctr">
              <a:defRPr sz="1200" b="1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4584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rnière de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6915790B-0374-684C-8F20-9011D4AD00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323667" y="2976416"/>
            <a:ext cx="3993621" cy="2535384"/>
          </a:xfrm>
        </p:spPr>
        <p:txBody>
          <a:bodyPr/>
          <a:lstStyle>
            <a:lvl1pPr>
              <a:defRPr sz="1200" b="1" i="0">
                <a:latin typeface="Montserrat" pitchFamily="2" charset="77"/>
              </a:defRPr>
            </a:lvl1pPr>
            <a:lvl2pPr marL="4763" indent="0">
              <a:tabLst/>
              <a:defRPr sz="1200" b="0" i="0">
                <a:latin typeface="Montserrat" pitchFamily="2" charset="77"/>
              </a:defRPr>
            </a:lvl2pPr>
            <a:lvl3pPr>
              <a:defRPr sz="1600" b="0" i="0">
                <a:latin typeface="Montserrat" pitchFamily="2" charset="77"/>
              </a:defRPr>
            </a:lvl3pPr>
            <a:lvl4pPr>
              <a:defRPr sz="1600" b="0" i="0">
                <a:latin typeface="Montserrat" pitchFamily="2" charset="77"/>
              </a:defRPr>
            </a:lvl4pPr>
            <a:lvl5pPr>
              <a:defRPr sz="1600" b="0" i="0">
                <a:latin typeface="Montserrat" pitchFamily="2" charset="77"/>
              </a:defRPr>
            </a:lvl5pPr>
          </a:lstStyle>
          <a:p>
            <a:pPr lvl="0"/>
            <a:r>
              <a:rPr lang="fr-FR"/>
              <a:t>Prénom Nom</a:t>
            </a:r>
          </a:p>
          <a:p>
            <a:pPr lvl="1"/>
            <a:r>
              <a:rPr lang="fr-FR" err="1"/>
              <a:t>prénom.nom@rxglobal.com</a:t>
            </a:r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25BB515C-D5DF-C149-8907-251F097DBD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8779" y="0"/>
            <a:ext cx="2793795" cy="24384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4550F59E-310E-7C47-B07A-49C07726B2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79"/>
          <a:stretch/>
        </p:blipFill>
        <p:spPr>
          <a:xfrm>
            <a:off x="727389" y="6161662"/>
            <a:ext cx="1711011" cy="490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430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2381" y="1929095"/>
            <a:ext cx="10434907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1A1A1A"/>
                </a:solidFill>
                <a:latin typeface="Montserrat Medium"/>
                <a:cs typeface="Montserrat Mediu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82381" y="2441864"/>
            <a:ext cx="10434907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82382" y="6429870"/>
            <a:ext cx="5213617" cy="9233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60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pPr defTabSz="642915"/>
            <a:endParaRPr lang="fr-FR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908415" y="6368315"/>
            <a:ext cx="2804160" cy="1538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1000" b="0" i="0">
                <a:solidFill>
                  <a:schemeClr val="tx1"/>
                </a:solidFill>
                <a:latin typeface="Montserrat Medium" pitchFamily="2" charset="77"/>
              </a:defRPr>
            </a:lvl1pPr>
          </a:lstStyle>
          <a:p>
            <a:pPr defTabSz="642915"/>
            <a:fld id="{B6F15528-21DE-4FAA-801E-634DDDAF4B2B}" type="slidenum">
              <a:rPr lang="fr-FR" smtClean="0"/>
              <a:pPr defTabSz="642915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006841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hf hdr="0" dt="0"/>
  <p:txStyles>
    <p:titleStyle>
      <a:lvl1pPr>
        <a:defRPr b="1" i="0">
          <a:latin typeface="Montserrat" pitchFamily="2" charset="77"/>
          <a:ea typeface="+mj-ea"/>
          <a:cs typeface="+mj-cs"/>
        </a:defRPr>
      </a:lvl1pPr>
    </p:titleStyle>
    <p:bodyStyle>
      <a:lvl1pPr marL="0">
        <a:defRPr sz="1400" b="0" i="0">
          <a:latin typeface="Montserrat Medium" pitchFamily="2" charset="77"/>
          <a:ea typeface="+mn-ea"/>
          <a:cs typeface="+mn-cs"/>
        </a:defRPr>
      </a:lvl1pPr>
      <a:lvl2pPr marL="321296">
        <a:defRPr>
          <a:latin typeface="+mn-lt"/>
          <a:ea typeface="+mn-ea"/>
          <a:cs typeface="+mn-cs"/>
        </a:defRPr>
      </a:lvl2pPr>
      <a:lvl3pPr marL="642593">
        <a:defRPr>
          <a:latin typeface="+mn-lt"/>
          <a:ea typeface="+mn-ea"/>
          <a:cs typeface="+mn-cs"/>
        </a:defRPr>
      </a:lvl3pPr>
      <a:lvl4pPr marL="963890">
        <a:defRPr>
          <a:latin typeface="+mn-lt"/>
          <a:ea typeface="+mn-ea"/>
          <a:cs typeface="+mn-cs"/>
        </a:defRPr>
      </a:lvl4pPr>
      <a:lvl5pPr marL="1285187">
        <a:defRPr>
          <a:latin typeface="+mn-lt"/>
          <a:ea typeface="+mn-ea"/>
          <a:cs typeface="+mn-cs"/>
        </a:defRPr>
      </a:lvl5pPr>
      <a:lvl6pPr marL="1606483">
        <a:defRPr>
          <a:latin typeface="+mn-lt"/>
          <a:ea typeface="+mn-ea"/>
          <a:cs typeface="+mn-cs"/>
        </a:defRPr>
      </a:lvl6pPr>
      <a:lvl7pPr marL="1927779">
        <a:defRPr>
          <a:latin typeface="+mn-lt"/>
          <a:ea typeface="+mn-ea"/>
          <a:cs typeface="+mn-cs"/>
        </a:defRPr>
      </a:lvl7pPr>
      <a:lvl8pPr marL="2249076">
        <a:defRPr>
          <a:latin typeface="+mn-lt"/>
          <a:ea typeface="+mn-ea"/>
          <a:cs typeface="+mn-cs"/>
        </a:defRPr>
      </a:lvl8pPr>
      <a:lvl9pPr marL="257037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21296">
        <a:defRPr>
          <a:latin typeface="+mn-lt"/>
          <a:ea typeface="+mn-ea"/>
          <a:cs typeface="+mn-cs"/>
        </a:defRPr>
      </a:lvl2pPr>
      <a:lvl3pPr marL="642593">
        <a:defRPr>
          <a:latin typeface="+mn-lt"/>
          <a:ea typeface="+mn-ea"/>
          <a:cs typeface="+mn-cs"/>
        </a:defRPr>
      </a:lvl3pPr>
      <a:lvl4pPr marL="963890">
        <a:defRPr>
          <a:latin typeface="+mn-lt"/>
          <a:ea typeface="+mn-ea"/>
          <a:cs typeface="+mn-cs"/>
        </a:defRPr>
      </a:lvl4pPr>
      <a:lvl5pPr marL="1285187">
        <a:defRPr>
          <a:latin typeface="+mn-lt"/>
          <a:ea typeface="+mn-ea"/>
          <a:cs typeface="+mn-cs"/>
        </a:defRPr>
      </a:lvl5pPr>
      <a:lvl6pPr marL="1606483">
        <a:defRPr>
          <a:latin typeface="+mn-lt"/>
          <a:ea typeface="+mn-ea"/>
          <a:cs typeface="+mn-cs"/>
        </a:defRPr>
      </a:lvl6pPr>
      <a:lvl7pPr marL="1927779">
        <a:defRPr>
          <a:latin typeface="+mn-lt"/>
          <a:ea typeface="+mn-ea"/>
          <a:cs typeface="+mn-cs"/>
        </a:defRPr>
      </a:lvl7pPr>
      <a:lvl8pPr marL="2249076">
        <a:defRPr>
          <a:latin typeface="+mn-lt"/>
          <a:ea typeface="+mn-ea"/>
          <a:cs typeface="+mn-cs"/>
        </a:defRPr>
      </a:lvl8pPr>
      <a:lvl9pPr marL="257037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551">
          <p15:clr>
            <a:srgbClr val="F26B43"/>
          </p15:clr>
        </p15:guide>
        <p15:guide id="4" pos="7129">
          <p15:clr>
            <a:srgbClr val="F26B43"/>
          </p15:clr>
        </p15:guide>
        <p15:guide id="5" orient="horz" pos="3952">
          <p15:clr>
            <a:srgbClr val="F26B43"/>
          </p15:clr>
        </p15:guide>
        <p15:guide id="6" orient="horz" pos="411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eg"/><Relationship Id="rId4" Type="http://schemas.openxmlformats.org/officeDocument/2006/relationships/image" Target="../media/image4.jpe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7" Type="http://schemas.openxmlformats.org/officeDocument/2006/relationships/hyperlink" Target="https://www.mipim.com/en-gb.html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>
            <a:extLst>
              <a:ext uri="{FF2B5EF4-FFF2-40B4-BE49-F238E27FC236}">
                <a16:creationId xmlns:a16="http://schemas.microsoft.com/office/drawing/2014/main" id="{145D1A9A-0C5A-E642-80F4-BD39D809A43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62" b="3488"/>
          <a:stretch/>
        </p:blipFill>
        <p:spPr>
          <a:xfrm>
            <a:off x="5092701" y="2066884"/>
            <a:ext cx="7099300" cy="4791116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8E6C242F-B9E4-184A-8B20-FC69728BE5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2694"/>
            <a:ext cx="12192000" cy="6858000"/>
          </a:xfrm>
          <a:prstGeom prst="rect">
            <a:avLst/>
          </a:prstGeom>
        </p:spPr>
      </p:pic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D2A8D889-144D-904C-95ED-2633ECD4E95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74713" y="854962"/>
            <a:ext cx="10442574" cy="461665"/>
          </a:xfrm>
        </p:spPr>
        <p:txBody>
          <a:bodyPr/>
          <a:lstStyle/>
          <a:p>
            <a:r>
              <a:rPr lang="fr-FR"/>
              <a:t>PLAN MARKETING DIGITAL</a:t>
            </a:r>
            <a:endParaRPr lang="fr-FR" i="1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063A807C-B310-AA48-B25B-5D6B3E939C7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0"/>
          <a:stretch/>
        </p:blipFill>
        <p:spPr>
          <a:xfrm>
            <a:off x="779643" y="5838121"/>
            <a:ext cx="1790301" cy="506142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4B0F80D-6C34-C447-BF23-62D28D3AC8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50572" y="6180219"/>
            <a:ext cx="3273741" cy="472020"/>
          </a:xfrm>
          <a:prstGeom prst="rect">
            <a:avLst/>
          </a:prstGeom>
        </p:spPr>
      </p:pic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AE400FAF-CE53-FDFA-E4B7-FE6AD95F14A3}"/>
              </a:ext>
            </a:extLst>
          </p:cNvPr>
          <p:cNvSpPr txBox="1">
            <a:spLocks/>
          </p:cNvSpPr>
          <p:nvPr/>
        </p:nvSpPr>
        <p:spPr>
          <a:xfrm>
            <a:off x="874713" y="3392708"/>
            <a:ext cx="3821905" cy="13234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000" b="1" i="0">
                <a:latin typeface="Montserrat" pitchFamily="2" charset="77"/>
                <a:ea typeface="+mn-ea"/>
                <a:cs typeface="+mn-cs"/>
              </a:defRPr>
            </a:lvl1pPr>
            <a:lvl2pPr marL="321296">
              <a:defRPr>
                <a:latin typeface="+mn-lt"/>
                <a:ea typeface="+mn-ea"/>
                <a:cs typeface="+mn-cs"/>
              </a:defRPr>
            </a:lvl2pPr>
            <a:lvl3pPr marL="642593">
              <a:defRPr>
                <a:latin typeface="+mn-lt"/>
                <a:ea typeface="+mn-ea"/>
                <a:cs typeface="+mn-cs"/>
              </a:defRPr>
            </a:lvl3pPr>
            <a:lvl4pPr marL="963890">
              <a:defRPr>
                <a:latin typeface="+mn-lt"/>
                <a:ea typeface="+mn-ea"/>
                <a:cs typeface="+mn-cs"/>
              </a:defRPr>
            </a:lvl4pPr>
            <a:lvl5pPr marL="1285187">
              <a:defRPr>
                <a:latin typeface="+mn-lt"/>
                <a:ea typeface="+mn-ea"/>
                <a:cs typeface="+mn-cs"/>
              </a:defRPr>
            </a:lvl5pPr>
            <a:lvl6pPr marL="1606483">
              <a:defRPr>
                <a:latin typeface="+mn-lt"/>
                <a:ea typeface="+mn-ea"/>
                <a:cs typeface="+mn-cs"/>
              </a:defRPr>
            </a:lvl6pPr>
            <a:lvl7pPr marL="1927779">
              <a:defRPr>
                <a:latin typeface="+mn-lt"/>
                <a:ea typeface="+mn-ea"/>
                <a:cs typeface="+mn-cs"/>
              </a:defRPr>
            </a:lvl7pPr>
            <a:lvl8pPr marL="2249076">
              <a:defRPr>
                <a:latin typeface="+mn-lt"/>
                <a:ea typeface="+mn-ea"/>
                <a:cs typeface="+mn-cs"/>
              </a:defRPr>
            </a:lvl8pPr>
            <a:lvl9pPr marL="2570373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kern="0">
                <a:solidFill>
                  <a:sysClr val="windowText" lastClr="000000"/>
                </a:solidFill>
              </a:rPr>
              <a:t>MIPIM 2027</a:t>
            </a:r>
          </a:p>
          <a:p>
            <a:r>
              <a:rPr lang="fr-FR" sz="1200" b="0" kern="0">
                <a:solidFill>
                  <a:sysClr val="windowText" lastClr="000000"/>
                </a:solidFill>
                <a:hlinkClick r:id="rId7"/>
              </a:rPr>
              <a:t>https://www.mipim.com/en-gb.html</a:t>
            </a:r>
            <a:endParaRPr lang="fr-FR" sz="1200" b="0" kern="0">
              <a:solidFill>
                <a:sysClr val="windowText" lastClr="000000"/>
              </a:solidFill>
            </a:endParaRPr>
          </a:p>
          <a:p>
            <a:endParaRPr lang="fr-FR" sz="2400" b="0" i="1" kern="0">
              <a:solidFill>
                <a:sysClr val="windowText" lastClr="000000"/>
              </a:solidFill>
            </a:endParaRPr>
          </a:p>
          <a:p>
            <a:r>
              <a:rPr lang="fr-FR" sz="2400" b="0" i="1" kern="0">
                <a:solidFill>
                  <a:sysClr val="windowText" lastClr="000000"/>
                </a:solidFill>
              </a:rPr>
              <a:t>Budget 70 000€</a:t>
            </a:r>
          </a:p>
        </p:txBody>
      </p:sp>
    </p:spTree>
    <p:extLst>
      <p:ext uri="{BB962C8B-B14F-4D97-AF65-F5344CB8AC3E}">
        <p14:creationId xmlns:p14="http://schemas.microsoft.com/office/powerpoint/2010/main" val="2156266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2A638-B00E-F223-0CF7-537B17C50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B28D957-FCD6-5689-7630-6A731846C90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650" y="651859"/>
            <a:ext cx="3541713" cy="169277"/>
          </a:xfrm>
        </p:spPr>
        <p:txBody>
          <a:bodyPr wrap="square" lIns="0" tIns="0" rIns="0" bIns="0" anchor="t">
            <a:spAutoFit/>
          </a:bodyPr>
          <a:lstStyle/>
          <a:p>
            <a:r>
              <a:rPr lang="fr-FR">
                <a:latin typeface="Lato"/>
                <a:ea typeface="Lato"/>
                <a:cs typeface="Lato"/>
              </a:rPr>
              <a:t>Introduction</a:t>
            </a:r>
            <a:endParaRPr lang="en-US"/>
          </a:p>
        </p:txBody>
      </p:sp>
      <p:sp>
        <p:nvSpPr>
          <p:cNvPr id="10" name="Titre 2">
            <a:extLst>
              <a:ext uri="{FF2B5EF4-FFF2-40B4-BE49-F238E27FC236}">
                <a16:creationId xmlns:a16="http://schemas.microsoft.com/office/drawing/2014/main" id="{20A25591-CDB3-57BD-44F6-EFB9E320E492}"/>
              </a:ext>
            </a:extLst>
          </p:cNvPr>
          <p:cNvSpPr txBox="1">
            <a:spLocks/>
          </p:cNvSpPr>
          <p:nvPr/>
        </p:nvSpPr>
        <p:spPr>
          <a:xfrm>
            <a:off x="879467" y="1200376"/>
            <a:ext cx="3545511" cy="46166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514350" indent="-514350">
              <a:buClr>
                <a:srgbClr val="FD5E00"/>
              </a:buClr>
              <a:buFont typeface="+mj-lt"/>
              <a:buAutoNum type="arabicPeriod"/>
              <a:defRPr sz="3200" b="1" i="0">
                <a:solidFill>
                  <a:srgbClr val="1A1A1A"/>
                </a:solidFill>
                <a:latin typeface="Montserrat" pitchFamily="2" charset="77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fr-FR" sz="3000" kern="0">
                <a:latin typeface="Montserrat"/>
                <a:ea typeface="Tahoma"/>
                <a:cs typeface="Tahoma"/>
              </a:rPr>
              <a:t>MIPIM</a:t>
            </a:r>
            <a:endParaRPr lang="fr-FR"/>
          </a:p>
        </p:txBody>
      </p:sp>
      <p:sp>
        <p:nvSpPr>
          <p:cNvPr id="6" name="ZoneTexte 2">
            <a:extLst>
              <a:ext uri="{FF2B5EF4-FFF2-40B4-BE49-F238E27FC236}">
                <a16:creationId xmlns:a16="http://schemas.microsoft.com/office/drawing/2014/main" id="{C5C0D152-B997-B7F0-8729-50E46572AD30}"/>
              </a:ext>
            </a:extLst>
          </p:cNvPr>
          <p:cNvSpPr txBox="1"/>
          <p:nvPr/>
        </p:nvSpPr>
        <p:spPr>
          <a:xfrm>
            <a:off x="4738384" y="1196984"/>
            <a:ext cx="7059342" cy="3829253"/>
          </a:xfrm>
          <a:prstGeom prst="rect">
            <a:avLst/>
          </a:prstGeom>
        </p:spPr>
        <p:txBody>
          <a:bodyPr vert="horz" wrap="square" lIns="0" tIns="7366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>
                <a:solidFill>
                  <a:srgbClr val="FF5F00"/>
                </a:solidFill>
                <a:latin typeface="Lato"/>
                <a:ea typeface="Lato"/>
                <a:cs typeface="Lato"/>
              </a:rPr>
              <a:t>C'est quoi ?</a:t>
            </a:r>
          </a:p>
          <a:p>
            <a:r>
              <a:rPr lang="fr-FR" sz="1600">
                <a:latin typeface="Lato"/>
                <a:ea typeface="Lato"/>
                <a:cs typeface="Lato"/>
              </a:rPr>
              <a:t>Le MIPIM réunit à Cannes les principaux décideurs internationaux de l’immobilier : investisseurs, promoteurs, collectivités, opérateurs et utilisateurs.</a:t>
            </a:r>
          </a:p>
          <a:p>
            <a:r>
              <a:rPr lang="fr-FR" sz="1600">
                <a:latin typeface="Lato"/>
                <a:ea typeface="Lato"/>
                <a:cs typeface="Lato"/>
              </a:rPr>
              <a:t>Un rendez-vous incontournable pour identifier de nouvelles opportunités, développer son réseau et accélérer les projets qui façonnent la ville de demain.</a:t>
            </a:r>
          </a:p>
          <a:p>
            <a:endParaRPr lang="fr-FR" sz="2000" b="1">
              <a:solidFill>
                <a:srgbClr val="FF5F00"/>
              </a:solidFill>
              <a:latin typeface="Lato"/>
              <a:ea typeface="Lato"/>
              <a:cs typeface="Lato"/>
            </a:endParaRPr>
          </a:p>
          <a:p>
            <a:endParaRPr lang="fr-FR" sz="2000" b="1">
              <a:solidFill>
                <a:srgbClr val="FF5F00"/>
              </a:solidFill>
              <a:latin typeface="Lato"/>
              <a:ea typeface="Lato"/>
              <a:cs typeface="Lato"/>
            </a:endParaRPr>
          </a:p>
          <a:p>
            <a:r>
              <a:rPr lang="fr-FR" sz="2000" b="1">
                <a:solidFill>
                  <a:srgbClr val="FF5F00"/>
                </a:solidFill>
                <a:latin typeface="Lato"/>
                <a:ea typeface="Lato"/>
                <a:cs typeface="Lato"/>
              </a:rPr>
              <a:t>Quelques chiffres</a:t>
            </a:r>
            <a:endParaRPr lang="fr-FR"/>
          </a:p>
          <a:p>
            <a:r>
              <a:rPr lang="fr-FR" sz="1600">
                <a:latin typeface="Lato"/>
                <a:ea typeface="Lato"/>
                <a:cs typeface="Lato"/>
              </a:rPr>
              <a:t>20K+ participants / 90 pays / 5K+ investisseurs / &gt;80% directeurs et C-</a:t>
            </a:r>
            <a:r>
              <a:rPr lang="fr-FR" sz="1600" err="1">
                <a:latin typeface="Lato"/>
                <a:ea typeface="Lato"/>
                <a:cs typeface="Lato"/>
              </a:rPr>
              <a:t>levels</a:t>
            </a:r>
            <a:endParaRPr lang="fr-FR" sz="1600">
              <a:latin typeface="Lato"/>
              <a:ea typeface="Lato"/>
              <a:cs typeface="Lato"/>
            </a:endParaRPr>
          </a:p>
          <a:p>
            <a:endParaRPr lang="fr-FR" sz="1600">
              <a:latin typeface="Lato"/>
              <a:ea typeface="Lato"/>
              <a:cs typeface="Lato"/>
            </a:endParaRPr>
          </a:p>
          <a:p>
            <a:endParaRPr lang="fr-FR" sz="160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r>
              <a:rPr lang="fr-FR" sz="2000" b="1">
                <a:solidFill>
                  <a:srgbClr val="FF5F00"/>
                </a:solidFill>
                <a:latin typeface="Lato"/>
                <a:ea typeface="Lato"/>
                <a:cs typeface="Lato"/>
              </a:rPr>
              <a:t>Prix du billet visiteur</a:t>
            </a:r>
            <a:endParaRPr lang="fr-FR" sz="2000">
              <a:latin typeface="Lato"/>
              <a:ea typeface="Lato"/>
              <a:cs typeface="Lato"/>
            </a:endParaRPr>
          </a:p>
          <a:p>
            <a:r>
              <a:rPr lang="fr-FR" sz="1600">
                <a:latin typeface="Lato"/>
                <a:ea typeface="Lato"/>
                <a:cs typeface="Lato"/>
              </a:rPr>
              <a:t>1 710€</a:t>
            </a:r>
            <a:endParaRPr lang="en-US"/>
          </a:p>
          <a:p>
            <a:endParaRPr lang="fr-FR" sz="1600"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025517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6C036C6-BF69-3046-A19B-06C22EBA20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82650" y="651859"/>
            <a:ext cx="3541713" cy="169277"/>
          </a:xfrm>
        </p:spPr>
        <p:txBody>
          <a:bodyPr wrap="square" lIns="0" tIns="0" rIns="0" bIns="0" anchor="t">
            <a:spAutoFit/>
          </a:bodyPr>
          <a:lstStyle/>
          <a:p>
            <a:r>
              <a:rPr lang="fr-FR">
                <a:latin typeface="Lato"/>
                <a:ea typeface="Lato"/>
                <a:cs typeface="Lato"/>
              </a:rPr>
              <a:t>Introduction</a:t>
            </a:r>
            <a:endParaRPr lang="en-US"/>
          </a:p>
        </p:txBody>
      </p:sp>
      <p:sp>
        <p:nvSpPr>
          <p:cNvPr id="10" name="Titre 2">
            <a:extLst>
              <a:ext uri="{FF2B5EF4-FFF2-40B4-BE49-F238E27FC236}">
                <a16:creationId xmlns:a16="http://schemas.microsoft.com/office/drawing/2014/main" id="{1A0D8BB1-5D47-6E92-5127-97DAD85D0CEA}"/>
              </a:ext>
            </a:extLst>
          </p:cNvPr>
          <p:cNvSpPr txBox="1">
            <a:spLocks/>
          </p:cNvSpPr>
          <p:nvPr/>
        </p:nvSpPr>
        <p:spPr>
          <a:xfrm>
            <a:off x="879467" y="1200376"/>
            <a:ext cx="3545511" cy="98488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514350" indent="-514350">
              <a:buClr>
                <a:srgbClr val="FD5E00"/>
              </a:buClr>
              <a:buFont typeface="+mj-lt"/>
              <a:buAutoNum type="arabicPeriod"/>
              <a:defRPr sz="3200" b="1" i="0">
                <a:solidFill>
                  <a:srgbClr val="1A1A1A"/>
                </a:solidFill>
                <a:latin typeface="Montserrat" pitchFamily="2" charset="77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fr-FR" sz="3000" kern="0">
                <a:latin typeface="Montserrat"/>
                <a:ea typeface="Tahoma"/>
                <a:cs typeface="Tahoma"/>
              </a:rPr>
              <a:t>Cibles</a:t>
            </a:r>
            <a:br>
              <a:rPr lang="fr-FR" kern="0"/>
            </a:br>
            <a:endParaRPr lang="fr-FR" kern="0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279E994D-FFD8-F1CD-9771-4B7F7E18A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2348" y="1200376"/>
            <a:ext cx="731045" cy="73104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AE940F7-D49B-FDF1-6B98-9926CFA5F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253" y="2867250"/>
            <a:ext cx="731045" cy="73104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8151DDE-7B80-66A6-3963-9023397E02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253" y="4450782"/>
            <a:ext cx="731045" cy="731045"/>
          </a:xfrm>
          <a:prstGeom prst="rect">
            <a:avLst/>
          </a:prstGeom>
        </p:spPr>
      </p:pic>
      <p:sp>
        <p:nvSpPr>
          <p:cNvPr id="20" name="ZoneTexte 2">
            <a:extLst>
              <a:ext uri="{FF2B5EF4-FFF2-40B4-BE49-F238E27FC236}">
                <a16:creationId xmlns:a16="http://schemas.microsoft.com/office/drawing/2014/main" id="{EE5FE420-D4A5-FE2B-B68F-19A2B6EC5144}"/>
              </a:ext>
            </a:extLst>
          </p:cNvPr>
          <p:cNvSpPr txBox="1"/>
          <p:nvPr/>
        </p:nvSpPr>
        <p:spPr>
          <a:xfrm>
            <a:off x="6565230" y="1128599"/>
            <a:ext cx="5095727" cy="1367041"/>
          </a:xfrm>
          <a:prstGeom prst="rect">
            <a:avLst/>
          </a:prstGeom>
        </p:spPr>
        <p:txBody>
          <a:bodyPr vert="horz" wrap="square" lIns="0" tIns="7366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>
                <a:solidFill>
                  <a:srgbClr val="FF5F00"/>
                </a:solidFill>
                <a:latin typeface="Montserrat"/>
                <a:ea typeface="Lato"/>
                <a:cs typeface="Lato"/>
              </a:rPr>
              <a:t>Cible 1</a:t>
            </a:r>
            <a:endParaRPr lang="fr-FR" sz="2000">
              <a:solidFill>
                <a:srgbClr val="FF5F00"/>
              </a:solidFill>
              <a:latin typeface="Montserrat"/>
              <a:ea typeface="Calibri"/>
              <a:cs typeface="Calibri"/>
            </a:endParaRPr>
          </a:p>
          <a:p>
            <a:r>
              <a:rPr lang="fr-FR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Secteur : Cœur de cible France </a:t>
            </a:r>
          </a:p>
          <a:p>
            <a:r>
              <a:rPr lang="fr-FR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Détails : Collectivités locales, promoteurs, opérateurs, conseils immobiliers, investisseurs, utilisateurs et prestataires de services.</a:t>
            </a:r>
          </a:p>
        </p:txBody>
      </p:sp>
      <p:sp>
        <p:nvSpPr>
          <p:cNvPr id="27" name="ZoneTexte 2">
            <a:extLst>
              <a:ext uri="{FF2B5EF4-FFF2-40B4-BE49-F238E27FC236}">
                <a16:creationId xmlns:a16="http://schemas.microsoft.com/office/drawing/2014/main" id="{BA091DB6-1467-1942-07EF-63E98BFF1264}"/>
              </a:ext>
            </a:extLst>
          </p:cNvPr>
          <p:cNvSpPr txBox="1"/>
          <p:nvPr/>
        </p:nvSpPr>
        <p:spPr>
          <a:xfrm>
            <a:off x="6565230" y="2791400"/>
            <a:ext cx="5095727" cy="1367041"/>
          </a:xfrm>
          <a:prstGeom prst="rect">
            <a:avLst/>
          </a:prstGeom>
        </p:spPr>
        <p:txBody>
          <a:bodyPr vert="horz" wrap="square" lIns="0" tIns="7366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>
                <a:solidFill>
                  <a:srgbClr val="FF5F00"/>
                </a:solidFill>
                <a:latin typeface="Montserrat"/>
                <a:ea typeface="Lato"/>
                <a:cs typeface="Lato"/>
              </a:rPr>
              <a:t>Cible 2</a:t>
            </a:r>
            <a:endParaRPr lang="fr-FR" sz="2000">
              <a:solidFill>
                <a:srgbClr val="FF5F00"/>
              </a:solidFill>
              <a:latin typeface="Montserrat"/>
              <a:ea typeface="Calibri"/>
              <a:cs typeface="Calibri"/>
            </a:endParaRPr>
          </a:p>
          <a:p>
            <a:r>
              <a:rPr lang="fr-FR" sz="1600">
                <a:latin typeface="Lato"/>
                <a:ea typeface="Lato"/>
                <a:cs typeface="Lato"/>
              </a:rPr>
              <a:t>Secteur : Cœur de cible UK</a:t>
            </a:r>
          </a:p>
          <a:p>
            <a:r>
              <a:rPr lang="fr-FR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Détails : Collectivités locales, promoteurs, opérateurs, conseils immobiliers, investisseurs, utilisateurs et prestataires de services.</a:t>
            </a:r>
          </a:p>
        </p:txBody>
      </p:sp>
      <p:sp>
        <p:nvSpPr>
          <p:cNvPr id="29" name="ZoneTexte 2">
            <a:extLst>
              <a:ext uri="{FF2B5EF4-FFF2-40B4-BE49-F238E27FC236}">
                <a16:creationId xmlns:a16="http://schemas.microsoft.com/office/drawing/2014/main" id="{9B42417E-C784-B0B6-938C-C8E69F4B67E8}"/>
              </a:ext>
            </a:extLst>
          </p:cNvPr>
          <p:cNvSpPr txBox="1"/>
          <p:nvPr/>
        </p:nvSpPr>
        <p:spPr>
          <a:xfrm>
            <a:off x="6565229" y="4379005"/>
            <a:ext cx="4756363" cy="874598"/>
          </a:xfrm>
          <a:prstGeom prst="rect">
            <a:avLst/>
          </a:prstGeom>
        </p:spPr>
        <p:txBody>
          <a:bodyPr vert="horz" wrap="square" lIns="0" tIns="7366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>
                <a:solidFill>
                  <a:srgbClr val="FF5F00"/>
                </a:solidFill>
                <a:latin typeface="Montserrat"/>
                <a:ea typeface="Lato"/>
                <a:cs typeface="Lato"/>
              </a:rPr>
              <a:t>Cible 3</a:t>
            </a:r>
            <a:endParaRPr lang="fr-FR" sz="2000">
              <a:solidFill>
                <a:srgbClr val="FF5F00"/>
              </a:solidFill>
              <a:latin typeface="Montserrat"/>
              <a:ea typeface="Calibri"/>
              <a:cs typeface="Calibri"/>
            </a:endParaRPr>
          </a:p>
          <a:p>
            <a:r>
              <a:rPr lang="fr-FR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Secteur : « Living » et classes d’actifs en croissance (data centers, technologies, hôtellerie, etc.) </a:t>
            </a:r>
          </a:p>
        </p:txBody>
      </p:sp>
    </p:spTree>
    <p:extLst>
      <p:ext uri="{BB962C8B-B14F-4D97-AF65-F5344CB8AC3E}">
        <p14:creationId xmlns:p14="http://schemas.microsoft.com/office/powerpoint/2010/main" val="1326796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78F492-A35E-6F52-9AA1-4F880CFBF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4EE18D-C89A-8FB7-CCBC-8CD8EEE58D72}"/>
              </a:ext>
            </a:extLst>
          </p:cNvPr>
          <p:cNvSpPr/>
          <p:nvPr/>
        </p:nvSpPr>
        <p:spPr>
          <a:xfrm>
            <a:off x="373461" y="1455822"/>
            <a:ext cx="11418489" cy="417495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itre 7">
            <a:extLst>
              <a:ext uri="{FF2B5EF4-FFF2-40B4-BE49-F238E27FC236}">
                <a16:creationId xmlns:a16="http://schemas.microsoft.com/office/drawing/2014/main" id="{D298000F-15CA-03D9-45BB-17FB22225A75}"/>
              </a:ext>
            </a:extLst>
          </p:cNvPr>
          <p:cNvSpPr txBox="1">
            <a:spLocks/>
          </p:cNvSpPr>
          <p:nvPr/>
        </p:nvSpPr>
        <p:spPr>
          <a:xfrm>
            <a:off x="389101" y="442935"/>
            <a:ext cx="10830193" cy="461665"/>
          </a:xfrm>
          <a:prstGeom prst="rect">
            <a:avLst/>
          </a:prstGeom>
        </p:spPr>
        <p:txBody>
          <a:bodyPr wrap="square" lIns="0" tIns="0" rIns="0" bIns="0" anchor="t">
            <a:normAutofit/>
          </a:bodyPr>
          <a:lstStyle>
            <a:lvl1pPr>
              <a:defRPr sz="3000" b="1" i="0">
                <a:solidFill>
                  <a:srgbClr val="1A1A1A"/>
                </a:solidFill>
                <a:latin typeface="Montserrat" pitchFamily="2" charset="77"/>
                <a:ea typeface="+mj-ea"/>
                <a:cs typeface="Montserrat Medium"/>
              </a:defRPr>
            </a:lvl1pPr>
          </a:lstStyle>
          <a:p>
            <a:r>
              <a:rPr lang="fr-FR" kern="0">
                <a:latin typeface="Montserrat"/>
              </a:rPr>
              <a:t>Objectifs du salon</a:t>
            </a:r>
            <a:endParaRPr lang="fr-FR" kern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5A58E6E-BD63-49A2-09C0-270C0924FD35}"/>
              </a:ext>
            </a:extLst>
          </p:cNvPr>
          <p:cNvSpPr txBox="1"/>
          <p:nvPr/>
        </p:nvSpPr>
        <p:spPr>
          <a:xfrm>
            <a:off x="307942" y="148450"/>
            <a:ext cx="609777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100" i="1" kern="0">
                <a:solidFill>
                  <a:sysClr val="windowText" lastClr="000000"/>
                </a:solidFill>
                <a:latin typeface="Lato" panose="020F0502020204030203" pitchFamily="34" charset="77"/>
              </a:rPr>
              <a:t>Introduction</a:t>
            </a:r>
            <a:endParaRPr kumimoji="0" lang="fr-FR" sz="1100" b="0" i="1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Lato" panose="020F0502020204030203" pitchFamily="34" charset="77"/>
              <a:ea typeface="+mn-ea"/>
              <a:cs typeface="+mn-cs"/>
            </a:endParaRPr>
          </a:p>
        </p:txBody>
      </p:sp>
      <p:sp>
        <p:nvSpPr>
          <p:cNvPr id="2" name="ZoneTexte 2">
            <a:extLst>
              <a:ext uri="{FF2B5EF4-FFF2-40B4-BE49-F238E27FC236}">
                <a16:creationId xmlns:a16="http://schemas.microsoft.com/office/drawing/2014/main" id="{57889DF3-23B8-8BEB-2062-C3321F7C88F8}"/>
              </a:ext>
            </a:extLst>
          </p:cNvPr>
          <p:cNvSpPr txBox="1"/>
          <p:nvPr/>
        </p:nvSpPr>
        <p:spPr>
          <a:xfrm>
            <a:off x="1000328" y="1782562"/>
            <a:ext cx="10191343" cy="3521477"/>
          </a:xfrm>
          <a:prstGeom prst="rect">
            <a:avLst/>
          </a:prstGeom>
        </p:spPr>
        <p:txBody>
          <a:bodyPr vert="horz" wrap="square" lIns="0" tIns="73660" rIns="0" bIns="0" rtlCol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b="1">
                <a:solidFill>
                  <a:srgbClr val="FF5F00"/>
                </a:solidFill>
                <a:latin typeface="Montserrat"/>
                <a:ea typeface="Lato"/>
                <a:cs typeface="Lato"/>
              </a:rPr>
              <a:t>Objectif 1</a:t>
            </a:r>
            <a:endParaRPr lang="fr-FR" sz="2000">
              <a:solidFill>
                <a:srgbClr val="FF5F00"/>
              </a:solidFill>
              <a:latin typeface="Montserrat"/>
              <a:ea typeface="Calibri"/>
              <a:cs typeface="Calibri"/>
            </a:endParaRPr>
          </a:p>
          <a:p>
            <a:r>
              <a:rPr lang="fr-FR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Générer des inscriptions de visiteurs qualifiés parmi les décideurs de l’immobilier en France et au Royaume-Uni.</a:t>
            </a:r>
          </a:p>
          <a:p>
            <a:endParaRPr lang="fr-FR" sz="1200" b="1">
              <a:latin typeface="Lato"/>
              <a:ea typeface="Lato"/>
              <a:cs typeface="Lato"/>
            </a:endParaRPr>
          </a:p>
          <a:p>
            <a:endParaRPr lang="fr-FR" sz="1200" b="1">
              <a:latin typeface="Lato"/>
              <a:ea typeface="Lato"/>
              <a:cs typeface="Lato"/>
            </a:endParaRPr>
          </a:p>
          <a:p>
            <a:endParaRPr lang="fr-FR" sz="1200" b="1">
              <a:latin typeface="Lato"/>
              <a:ea typeface="Lato"/>
              <a:cs typeface="Lato"/>
            </a:endParaRPr>
          </a:p>
          <a:p>
            <a:r>
              <a:rPr lang="fr-FR" sz="2000" b="1">
                <a:solidFill>
                  <a:srgbClr val="FF5F00"/>
                </a:solidFill>
                <a:latin typeface="Montserrat"/>
                <a:ea typeface="Lato"/>
                <a:cs typeface="Lato"/>
              </a:rPr>
              <a:t>Objectif 2</a:t>
            </a:r>
            <a:endParaRPr lang="fr-FR" sz="2000" b="1">
              <a:solidFill>
                <a:srgbClr val="FF5F00"/>
              </a:solidFill>
              <a:latin typeface="Montserrat"/>
              <a:ea typeface="Calibri"/>
              <a:cs typeface="Calibri"/>
            </a:endParaRPr>
          </a:p>
          <a:p>
            <a:r>
              <a:rPr lang="fr-FR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Générer des leads d’entreprises susceptibles d’exposer ou de sponsoriser le MIPIM, notamment dans les secteurs « Living » et les classes d’actifs en croissance.</a:t>
            </a:r>
          </a:p>
          <a:p>
            <a:pPr>
              <a:spcBef>
                <a:spcPts val="600"/>
              </a:spcBef>
              <a:buClr>
                <a:srgbClr val="FE5E00"/>
              </a:buClr>
            </a:pPr>
            <a:endParaRPr lang="fr-FR" sz="1200" b="1">
              <a:latin typeface="Lato"/>
              <a:ea typeface="Lato"/>
              <a:cs typeface="Lato"/>
            </a:endParaRPr>
          </a:p>
          <a:p>
            <a:pPr>
              <a:spcBef>
                <a:spcPts val="600"/>
              </a:spcBef>
              <a:buClr>
                <a:srgbClr val="FE5E00"/>
              </a:buClr>
            </a:pPr>
            <a:endParaRPr lang="fr-FR" sz="1200" b="1">
              <a:latin typeface="Lato"/>
              <a:ea typeface="Lato"/>
              <a:cs typeface="Lato"/>
            </a:endParaRPr>
          </a:p>
          <a:p>
            <a:pPr>
              <a:spcBef>
                <a:spcPts val="600"/>
              </a:spcBef>
            </a:pPr>
            <a:r>
              <a:rPr lang="fr-FR" sz="2000" b="1">
                <a:solidFill>
                  <a:srgbClr val="FF5F00"/>
                </a:solidFill>
                <a:latin typeface="Montserrat"/>
                <a:ea typeface="Lato"/>
                <a:cs typeface="Lato"/>
              </a:rPr>
              <a:t>Objectif 3</a:t>
            </a:r>
            <a:endParaRPr lang="fr-FR" sz="2000">
              <a:solidFill>
                <a:srgbClr val="FF5F00"/>
              </a:solidFill>
              <a:latin typeface="Montserrat"/>
              <a:ea typeface="Calibri"/>
              <a:cs typeface="Calibri"/>
            </a:endParaRPr>
          </a:p>
          <a:p>
            <a:pPr>
              <a:spcBef>
                <a:spcPts val="600"/>
              </a:spcBef>
            </a:pPr>
            <a:r>
              <a:rPr lang="fr-FR" sz="16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Attirer et qualifier de nouveaux prospects grâce à des contenus sur l’investissement immobilier, les territoires et les classes d’actifs émergente.</a:t>
            </a:r>
          </a:p>
        </p:txBody>
      </p:sp>
    </p:spTree>
    <p:extLst>
      <p:ext uri="{BB962C8B-B14F-4D97-AF65-F5344CB8AC3E}">
        <p14:creationId xmlns:p14="http://schemas.microsoft.com/office/powerpoint/2010/main" val="1054733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F0F21294-2F52-3C4F-8EDD-026BC1C5F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467" y="1200376"/>
            <a:ext cx="3545511" cy="492443"/>
          </a:xfrm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fr-FR">
                <a:solidFill>
                  <a:srgbClr val="FF5F00"/>
                </a:solidFill>
                <a:latin typeface="Montserrat"/>
                <a:ea typeface="Tahoma"/>
                <a:cs typeface="Tahoma"/>
              </a:rPr>
              <a:t>1. </a:t>
            </a:r>
            <a:r>
              <a:rPr lang="fr-FR" err="1">
                <a:latin typeface="Montserrat"/>
                <a:ea typeface="Tahoma"/>
                <a:cs typeface="Tahoma"/>
              </a:rPr>
              <a:t>Paid</a:t>
            </a:r>
            <a:r>
              <a:rPr lang="fr-FR">
                <a:latin typeface="Montserrat"/>
                <a:ea typeface="Tahoma"/>
                <a:cs typeface="Tahoma"/>
              </a:rPr>
              <a:t> Exposant</a:t>
            </a:r>
            <a:endParaRPr lang="en-US">
              <a:latin typeface="Montserrat"/>
              <a:ea typeface="Tahoma"/>
              <a:cs typeface="Tahoma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8FB5EA69-3D4F-8046-9E3B-A6B5D5F1EF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82722" y="1288404"/>
            <a:ext cx="6738937" cy="3831818"/>
          </a:xfrm>
        </p:spPr>
        <p:txBody>
          <a:bodyPr wrap="square" lIns="0" tIns="0" rIns="0" bIns="0" anchor="t">
            <a:spAutoFit/>
          </a:bodyPr>
          <a:lstStyle/>
          <a:p>
            <a:pPr marL="7620" lvl="1" algn="l"/>
            <a:r>
              <a:rPr lang="fr-FR" sz="1500" b="1">
                <a:solidFill>
                  <a:srgbClr val="FD5E00"/>
                </a:solidFill>
                <a:latin typeface="Montserrat"/>
                <a:ea typeface="Lato"/>
                <a:cs typeface="Lato"/>
              </a:rPr>
              <a:t>Google </a:t>
            </a:r>
            <a:r>
              <a:rPr lang="fr-FR" sz="1500" b="1" err="1">
                <a:solidFill>
                  <a:srgbClr val="FD5E00"/>
                </a:solidFill>
                <a:latin typeface="Montserrat"/>
                <a:ea typeface="Lato"/>
                <a:cs typeface="Lato"/>
              </a:rPr>
              <a:t>Ads</a:t>
            </a:r>
            <a:endParaRPr lang="fr-FR" err="1"/>
          </a:p>
          <a:p>
            <a:pPr marL="7620" lvl="1" algn="l"/>
            <a:r>
              <a:rPr lang="fr-FR" i="1" sz="1100">
                <a:latin typeface="Lato"/>
                <a:ea typeface="Lato"/>
                <a:cs typeface="Lato"/>
              </a:rPr>
              <a:t>Budget </a:t>
            </a:r>
            <a:r>
              <a:rPr lang="fr-FR" sz="1100">
                <a:latin typeface="Lato"/>
                <a:ea typeface="Lato"/>
                <a:cs typeface="Lato"/>
              </a:rPr>
              <a:t>: </a:t>
            </a:r>
            <a:r>
              <a:rPr lang="fr-FR" b="1" sz="1100">
                <a:latin typeface="Lato"/>
                <a:ea typeface="Lato"/>
                <a:cs typeface="Lato"/>
              </a:rPr>
              <a:t>4 500 € (30 %)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r>
              <a:rPr lang="fr-FR" sz="1100">
                <a:latin typeface="Lato"/>
                <a:ea typeface="Lato"/>
                <a:cs typeface="Lato"/>
              </a:rPr>
              <a:t>Objectif :</a:t>
            </a:r>
            <a:r>
              <a:rPr lang="fr-FR" sz="1100" b="0" i="0">
                <a:latin typeface="Lato"/>
                <a:ea typeface="Lato"/>
                <a:cs typeface="Lato"/>
              </a:rPr>
              <a:t> capter les entreprises déjà en recherche active d'un salon.</a:t>
            </a:r>
            <a:r>
              <a:rPr lang="fr-FR" b="1" sz="1100">
                <a:latin typeface="Lato"/>
                <a:ea typeface="Lato"/>
                <a:cs typeface="Lato"/>
              </a:rPr>
              <a:t> 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r>
              <a:rPr lang="fr-FR" sz="1100">
                <a:latin typeface="Lato"/>
                <a:ea typeface="Lato"/>
                <a:cs typeface="Lato"/>
              </a:rPr>
              <a:t>Types de campagnes : </a:t>
            </a:r>
            <a:r>
              <a:rPr lang="fr-FR" sz="1100" b="0" i="0">
                <a:latin typeface="Lato"/>
                <a:ea typeface="Lato"/>
                <a:cs typeface="Lato"/>
              </a:rPr>
              <a:t>Search marque et générique FR/UK (« exposer MIPIM », « real estate trade show ») ; Search concurrentiel ; retargeting Display.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/>
            <a:endParaRPr lang="fr-FR" sz="2400" b="1">
              <a:solidFill>
                <a:srgbClr val="FD5E00"/>
              </a:solidFill>
              <a:latin typeface="Montserrat"/>
              <a:ea typeface="Lato"/>
              <a:cs typeface="Lato"/>
            </a:endParaRPr>
          </a:p>
          <a:p>
            <a:pPr marL="7620" lvl="1"/>
            <a:r>
              <a:rPr lang="fr-FR" sz="1500" b="1">
                <a:solidFill>
                  <a:srgbClr val="FD5E00"/>
                </a:solidFill>
                <a:latin typeface="Montserrat"/>
                <a:ea typeface="Lato"/>
                <a:cs typeface="Lato"/>
              </a:rPr>
              <a:t>Meta </a:t>
            </a:r>
            <a:r>
              <a:rPr lang="fr-FR" sz="1500" b="1" err="1">
                <a:solidFill>
                  <a:srgbClr val="FD5E00"/>
                </a:solidFill>
                <a:latin typeface="Montserrat"/>
                <a:ea typeface="Lato"/>
                <a:cs typeface="Lato"/>
              </a:rPr>
              <a:t>Ads</a:t>
            </a:r>
            <a:endParaRPr lang="fr-FR" err="1"/>
          </a:p>
          <a:p>
            <a:pPr marL="7620" lvl="1" algn="l"/>
            <a:r>
              <a:rPr lang="fr-FR" i="1" sz="1100">
                <a:latin typeface="Lato"/>
                <a:ea typeface="Lato"/>
                <a:cs typeface="Lato"/>
              </a:rPr>
              <a:t>Budget </a:t>
            </a:r>
            <a:r>
              <a:rPr lang="fr-FR" sz="1100">
                <a:latin typeface="Lato"/>
                <a:ea typeface="Lato"/>
                <a:cs typeface="Lato"/>
              </a:rPr>
              <a:t>: </a:t>
            </a:r>
            <a:r>
              <a:rPr lang="fr-FR" b="1" sz="1100">
                <a:latin typeface="Lato"/>
                <a:ea typeface="Lato"/>
                <a:cs typeface="Lato"/>
              </a:rPr>
              <a:t>1 500 € (10 %)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r>
              <a:rPr lang="fr-FR" sz="1100">
                <a:latin typeface="Lato"/>
                <a:ea typeface="Lato"/>
                <a:cs typeface="Lato"/>
              </a:rPr>
              <a:t>Objectif :</a:t>
            </a:r>
            <a:r>
              <a:rPr lang="fr-FR" sz="1100" b="0" i="0">
                <a:latin typeface="Lato"/>
                <a:ea typeface="Lato"/>
                <a:cs typeface="Lato"/>
              </a:rPr>
              <a:t> retargeting à bas coût. Pas de ciblage B2B par fonction fiable.</a:t>
            </a:r>
            <a:r>
              <a:rPr lang="fr-FR" b="1" sz="1100">
                <a:latin typeface="Lato"/>
                <a:ea typeface="Lato"/>
                <a:cs typeface="Lato"/>
              </a:rPr>
              <a:t> 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r>
              <a:rPr lang="fr-FR" sz="1100">
                <a:latin typeface="Lato"/>
                <a:ea typeface="Lato"/>
                <a:cs typeface="Lato"/>
              </a:rPr>
              <a:t>Types de campagnes : </a:t>
            </a:r>
            <a:r>
              <a:rPr lang="fr-FR" sz="1100" b="0" i="0">
                <a:latin typeface="Lato"/>
                <a:ea typeface="Lato"/>
                <a:cs typeface="Lato"/>
              </a:rPr>
              <a:t>Retargeting des visiteurs des pages « Exposer » ; audience similaire construite sur la base exposants.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endParaRPr lang="fr-FR" b="1">
              <a:latin typeface="Lato"/>
              <a:ea typeface="Lato"/>
              <a:cs typeface="Lato"/>
            </a:endParaRPr>
          </a:p>
          <a:p>
            <a:pPr marL="7620" lvl="1"/>
            <a:endParaRPr lang="fr-FR">
              <a:latin typeface="Lato"/>
              <a:ea typeface="Lato"/>
              <a:cs typeface="Lato"/>
            </a:endParaRPr>
          </a:p>
          <a:p>
            <a:pPr marL="7620" lvl="1"/>
            <a:r>
              <a:rPr lang="fr-FR" sz="1500" b="1">
                <a:solidFill>
                  <a:srgbClr val="FD5E00"/>
                </a:solidFill>
                <a:latin typeface="Montserrat"/>
                <a:ea typeface="Lato"/>
                <a:cs typeface="Lato"/>
              </a:rPr>
              <a:t>LinkedIn </a:t>
            </a:r>
            <a:r>
              <a:rPr lang="fr-FR" sz="1500" b="1" err="1">
                <a:solidFill>
                  <a:srgbClr val="FD5E00"/>
                </a:solidFill>
                <a:latin typeface="Montserrat"/>
                <a:ea typeface="Lato"/>
                <a:cs typeface="Lato"/>
              </a:rPr>
              <a:t>Ads</a:t>
            </a:r>
            <a:endParaRPr lang="fr-FR" err="1"/>
          </a:p>
          <a:p>
            <a:pPr marL="7620" lvl="1" algn="l"/>
            <a:r>
              <a:rPr lang="fr-FR" i="1" sz="1100">
                <a:latin typeface="Lato"/>
                <a:ea typeface="Lato"/>
                <a:cs typeface="Lato"/>
              </a:rPr>
              <a:t>Budget </a:t>
            </a:r>
            <a:r>
              <a:rPr lang="fr-FR" sz="1100">
                <a:latin typeface="Lato"/>
                <a:ea typeface="Lato"/>
                <a:cs typeface="Lato"/>
              </a:rPr>
              <a:t>: </a:t>
            </a:r>
            <a:r>
              <a:rPr lang="fr-FR" b="1" sz="1100">
                <a:latin typeface="Lato"/>
                <a:ea typeface="Lato"/>
                <a:cs typeface="Lato"/>
              </a:rPr>
              <a:t>9 000 € (60 %)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r>
              <a:rPr lang="fr-FR" sz="1100">
                <a:latin typeface="Lato"/>
                <a:ea typeface="Lato"/>
                <a:cs typeface="Lato"/>
              </a:rPr>
              <a:t>Objectif :</a:t>
            </a:r>
            <a:r>
              <a:rPr lang="fr-FR" sz="1100" b="0" i="0">
                <a:latin typeface="Lato"/>
                <a:ea typeface="Lato"/>
                <a:cs typeface="Lato"/>
              </a:rPr>
              <a:t> générer des leads décideurs sur Living, data centers et hôtellerie.</a:t>
            </a:r>
            <a:r>
              <a:rPr lang="fr-FR" b="1" sz="1100">
                <a:latin typeface="Lato"/>
                <a:ea typeface="Lato"/>
                <a:cs typeface="Lato"/>
              </a:rPr>
              <a:t> 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r>
              <a:rPr lang="fr-FR" sz="1100">
                <a:latin typeface="Lato"/>
                <a:ea typeface="Lato"/>
                <a:cs typeface="Lato"/>
              </a:rPr>
              <a:t>Types de campagnes : </a:t>
            </a:r>
            <a:r>
              <a:rPr lang="fr-FR" sz="1100" b="0" i="0">
                <a:latin typeface="Lato"/>
                <a:ea typeface="Lato"/>
                <a:cs typeface="Lato"/>
              </a:rPr>
              <a:t>Lead Gen Forms (secteur × séniorité Director/VP/C-level) ; Document Ads (dossier exposant, bilan N-1) ; ABM sur comptes cibles et exposants N-1 non réinscrits.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CD7CE7B-2916-2046-AC55-BFD9EE2B2F7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fr-FR">
                <a:latin typeface="Lato"/>
                <a:ea typeface="Lato"/>
                <a:cs typeface="Lato"/>
              </a:rPr>
              <a:t>Acquisition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492DCDB2-F927-CA4D-A82E-227C896E898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defTabSz="642915"/>
            <a:fld id="{B6F15528-21DE-4FAA-801E-634DDDAF4B2B}" type="slidenum">
              <a:rPr lang="fr-FR" smtClean="0"/>
              <a:pPr defTabSz="642915"/>
              <a:t>5</a:t>
            </a:fld>
            <a:endParaRPr lang="fr-FR"/>
          </a:p>
        </p:txBody>
      </p:sp>
      <p:sp>
        <p:nvSpPr>
          <p:cNvPr id="19" name="Espace réservé du texte 5">
            <a:extLst>
              <a:ext uri="{FF2B5EF4-FFF2-40B4-BE49-F238E27FC236}">
                <a16:creationId xmlns:a16="http://schemas.microsoft.com/office/drawing/2014/main" id="{D3485C2C-AE29-33AA-756D-7D32E1694C5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9475" y="2020007"/>
            <a:ext cx="3544888" cy="923330"/>
          </a:xfrm>
        </p:spPr>
        <p:txBody>
          <a:bodyPr wrap="square" lIns="0" tIns="0" rIns="0" bIns="0" anchor="t">
            <a:spAutoFit/>
          </a:bodyPr>
          <a:lstStyle/>
          <a:p>
            <a:r>
              <a:rPr lang="fr-FR" sz="1500">
                <a:solidFill>
                  <a:srgbClr val="FD5E00"/>
                </a:solidFill>
                <a:latin typeface="Lato"/>
                <a:ea typeface="Lato"/>
                <a:cs typeface="Lato"/>
              </a:rPr>
              <a:t>Budget</a:t>
            </a:r>
            <a:r>
              <a:rPr lang="fr-FR" sz="1500">
                <a:latin typeface="Lato"/>
                <a:ea typeface="Lato"/>
                <a:cs typeface="Lato"/>
              </a:rPr>
              <a:t> : </a:t>
            </a:r>
            <a:r>
              <a:rPr lang="fr-FR" sz="1500" b="1">
                <a:latin typeface="Lato"/>
                <a:ea typeface="Lato"/>
                <a:cs typeface="Lato"/>
              </a:rPr>
              <a:t>15 000 €</a:t>
            </a:r>
            <a:endParaRPr lang="fr-FR"/>
          </a:p>
          <a:p>
            <a:r>
              <a:rPr sz="1000" b="0" i="1"/>
              <a:t>Clé de répartition : plus de 80 % de directeurs et C-levels dans la cible, donc LinkedIn majoritaire.</a:t>
            </a:r>
            <a:endParaRPr lang="fr-FR" sz="2000" b="1">
              <a:solidFill>
                <a:schemeClr val="tx1"/>
              </a:solidFill>
              <a:ea typeface="Lato"/>
              <a:cs typeface="Lato"/>
            </a:endParaRPr>
          </a:p>
          <a:p>
            <a:endParaRPr lang="fr-FR" sz="2000" b="1"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8210767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7F8129-15A1-47DF-1D70-62F057DD6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D267654D-4397-4ABD-893D-69067BB32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467" y="1200376"/>
            <a:ext cx="3545511" cy="492443"/>
          </a:xfrm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fr-FR">
                <a:solidFill>
                  <a:srgbClr val="FF5F00"/>
                </a:solidFill>
                <a:latin typeface="Montserrat"/>
                <a:ea typeface="Tahoma"/>
                <a:cs typeface="Tahoma"/>
              </a:rPr>
              <a:t>2. </a:t>
            </a:r>
            <a:r>
              <a:rPr lang="fr-FR" err="1">
                <a:latin typeface="Montserrat"/>
                <a:ea typeface="Tahoma"/>
                <a:cs typeface="Tahoma"/>
              </a:rPr>
              <a:t>Paid</a:t>
            </a:r>
            <a:r>
              <a:rPr lang="fr-FR">
                <a:latin typeface="Montserrat"/>
                <a:ea typeface="Tahoma"/>
                <a:cs typeface="Tahoma"/>
              </a:rPr>
              <a:t> Visiteurs</a:t>
            </a:r>
            <a:endParaRPr lang="en-US">
              <a:latin typeface="Montserrat"/>
              <a:ea typeface="Tahoma"/>
              <a:cs typeface="Tahoma"/>
            </a:endParaRP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060A76E-47F8-B7AC-5307-D52194E183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182722" y="1288404"/>
            <a:ext cx="6738937" cy="3831818"/>
          </a:xfrm>
        </p:spPr>
        <p:txBody>
          <a:bodyPr wrap="square" lIns="0" tIns="0" rIns="0" bIns="0" anchor="t">
            <a:spAutoFit/>
          </a:bodyPr>
          <a:lstStyle/>
          <a:p>
            <a:pPr marL="7620" lvl="1" algn="l"/>
            <a:r>
              <a:rPr lang="fr-FR" sz="1500" b="1">
                <a:solidFill>
                  <a:srgbClr val="FD5E00"/>
                </a:solidFill>
                <a:latin typeface="Montserrat"/>
                <a:ea typeface="Lato"/>
                <a:cs typeface="Lato"/>
              </a:rPr>
              <a:t>Google </a:t>
            </a:r>
            <a:r>
              <a:rPr lang="fr-FR" sz="1500" b="1" err="1">
                <a:solidFill>
                  <a:srgbClr val="FD5E00"/>
                </a:solidFill>
                <a:latin typeface="Montserrat"/>
                <a:ea typeface="Lato"/>
                <a:cs typeface="Lato"/>
              </a:rPr>
              <a:t>Ads</a:t>
            </a:r>
            <a:endParaRPr lang="fr-FR" err="1"/>
          </a:p>
          <a:p>
            <a:pPr marL="7620" lvl="1" algn="l"/>
            <a:r>
              <a:rPr lang="fr-FR" i="1" sz="1100">
                <a:latin typeface="Lato"/>
                <a:ea typeface="Lato"/>
                <a:cs typeface="Lato"/>
              </a:rPr>
              <a:t>Budget </a:t>
            </a:r>
            <a:r>
              <a:rPr lang="fr-FR" sz="1100">
                <a:latin typeface="Lato"/>
                <a:ea typeface="Lato"/>
                <a:cs typeface="Lato"/>
              </a:rPr>
              <a:t>: </a:t>
            </a:r>
            <a:r>
              <a:rPr lang="fr-FR" b="1" sz="1100">
                <a:latin typeface="Lato"/>
                <a:ea typeface="Lato"/>
                <a:cs typeface="Lato"/>
              </a:rPr>
              <a:t>19 250 € (35 %)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r>
              <a:rPr lang="fr-FR" sz="1100">
                <a:latin typeface="Lato"/>
                <a:ea typeface="Lato"/>
                <a:cs typeface="Lato"/>
              </a:rPr>
              <a:t>Objectif :</a:t>
            </a:r>
            <a:r>
              <a:rPr lang="fr-FR" sz="1100" b="0" i="0">
                <a:latin typeface="Lato"/>
                <a:ea typeface="Lato"/>
                <a:cs typeface="Lato"/>
              </a:rPr>
              <a:t> sécuriser la marque et capter l'intention existante FR/UK.</a:t>
            </a:r>
            <a:r>
              <a:rPr lang="fr-FR" b="1" sz="1100">
                <a:latin typeface="Lato"/>
                <a:ea typeface="Lato"/>
                <a:cs typeface="Lato"/>
              </a:rPr>
              <a:t> 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r>
              <a:rPr lang="fr-FR" sz="1100">
                <a:latin typeface="Lato"/>
                <a:ea typeface="Lato"/>
                <a:cs typeface="Lato"/>
              </a:rPr>
              <a:t>Types de campagnes : </a:t>
            </a:r>
            <a:r>
              <a:rPr lang="fr-FR" sz="1100" b="0" i="0">
                <a:latin typeface="Lato"/>
                <a:ea typeface="Lato"/>
                <a:cs typeface="Lato"/>
              </a:rPr>
              <a:t>Search marque (défensif, CPA le plus bas) ; Search générique FR/UK ; retargeting des abandons de formulaire.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/>
            <a:endParaRPr lang="fr-FR" sz="2400" b="1">
              <a:solidFill>
                <a:srgbClr val="FD5E00"/>
              </a:solidFill>
              <a:latin typeface="Montserrat"/>
              <a:ea typeface="Lato"/>
              <a:cs typeface="Lato"/>
            </a:endParaRPr>
          </a:p>
          <a:p>
            <a:pPr marL="7620" lvl="1"/>
            <a:r>
              <a:rPr lang="fr-FR" sz="1500" b="1">
                <a:solidFill>
                  <a:srgbClr val="FD5E00"/>
                </a:solidFill>
                <a:latin typeface="Montserrat"/>
                <a:ea typeface="Lato"/>
                <a:cs typeface="Lato"/>
              </a:rPr>
              <a:t>Meta </a:t>
            </a:r>
            <a:r>
              <a:rPr lang="fr-FR" sz="1500" b="1" err="1">
                <a:solidFill>
                  <a:srgbClr val="FD5E00"/>
                </a:solidFill>
                <a:latin typeface="Montserrat"/>
                <a:ea typeface="Lato"/>
                <a:cs typeface="Lato"/>
              </a:rPr>
              <a:t>Ads</a:t>
            </a:r>
            <a:endParaRPr lang="fr-FR" err="1"/>
          </a:p>
          <a:p>
            <a:pPr marL="7620" lvl="1" algn="l"/>
            <a:r>
              <a:rPr lang="fr-FR" i="1" sz="1100">
                <a:latin typeface="Lato"/>
                <a:ea typeface="Lato"/>
                <a:cs typeface="Lato"/>
              </a:rPr>
              <a:t>Budget </a:t>
            </a:r>
            <a:r>
              <a:rPr lang="fr-FR" sz="1100">
                <a:latin typeface="Lato"/>
                <a:ea typeface="Lato"/>
                <a:cs typeface="Lato"/>
              </a:rPr>
              <a:t>: </a:t>
            </a:r>
            <a:r>
              <a:rPr lang="fr-FR" b="1" sz="1100">
                <a:latin typeface="Lato"/>
                <a:ea typeface="Lato"/>
                <a:cs typeface="Lato"/>
              </a:rPr>
              <a:t>8 250 € (15 %)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r>
              <a:rPr lang="fr-FR" sz="1100">
                <a:latin typeface="Lato"/>
                <a:ea typeface="Lato"/>
                <a:cs typeface="Lato"/>
              </a:rPr>
              <a:t>Objectif :</a:t>
            </a:r>
            <a:r>
              <a:rPr lang="fr-FR" sz="1100" b="0" i="0">
                <a:latin typeface="Lato"/>
                <a:ea typeface="Lato"/>
                <a:cs typeface="Lato"/>
              </a:rPr>
              <a:t> retargeting et rappels de fin de campagne au meilleur CPM.</a:t>
            </a:r>
            <a:r>
              <a:rPr lang="fr-FR" b="1" sz="1100">
                <a:latin typeface="Lato"/>
                <a:ea typeface="Lato"/>
                <a:cs typeface="Lato"/>
              </a:rPr>
              <a:t> 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r>
              <a:rPr lang="fr-FR" sz="1100">
                <a:latin typeface="Lato"/>
                <a:ea typeface="Lato"/>
                <a:cs typeface="Lato"/>
              </a:rPr>
              <a:t>Types de campagnes : </a:t>
            </a:r>
            <a:r>
              <a:rPr lang="fr-FR" sz="1100" b="0" i="0">
                <a:latin typeface="Lato"/>
                <a:ea typeface="Lato"/>
                <a:cs typeface="Lato"/>
              </a:rPr>
              <a:t>Retargeting site et abandons d'inscription ; audience similaire sur les présents N-1 ; campagnes d'urgence J-30 à J-0.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endParaRPr lang="fr-FR" b="1">
              <a:latin typeface="Lato"/>
              <a:ea typeface="Lato"/>
              <a:cs typeface="Lato"/>
            </a:endParaRPr>
          </a:p>
          <a:p>
            <a:pPr marL="7620" lvl="1"/>
            <a:endParaRPr lang="fr-FR">
              <a:latin typeface="Lato"/>
              <a:ea typeface="Lato"/>
              <a:cs typeface="Lato"/>
            </a:endParaRPr>
          </a:p>
          <a:p>
            <a:pPr marL="7620" lvl="1"/>
            <a:r>
              <a:rPr lang="fr-FR" sz="1500" b="1">
                <a:solidFill>
                  <a:srgbClr val="FD5E00"/>
                </a:solidFill>
                <a:latin typeface="Montserrat"/>
                <a:ea typeface="Lato"/>
                <a:cs typeface="Lato"/>
              </a:rPr>
              <a:t>LinkedIn </a:t>
            </a:r>
            <a:r>
              <a:rPr lang="fr-FR" sz="1500" b="1" err="1">
                <a:solidFill>
                  <a:srgbClr val="FD5E00"/>
                </a:solidFill>
                <a:latin typeface="Montserrat"/>
                <a:ea typeface="Lato"/>
                <a:cs typeface="Lato"/>
              </a:rPr>
              <a:t>Ads</a:t>
            </a:r>
            <a:endParaRPr lang="fr-FR" err="1"/>
          </a:p>
          <a:p>
            <a:pPr marL="7620" lvl="1" algn="l"/>
            <a:r>
              <a:rPr lang="fr-FR" i="1" sz="1100">
                <a:latin typeface="Lato"/>
                <a:ea typeface="Lato"/>
                <a:cs typeface="Lato"/>
              </a:rPr>
              <a:t>Budget </a:t>
            </a:r>
            <a:r>
              <a:rPr lang="fr-FR" sz="1100">
                <a:latin typeface="Lato"/>
                <a:ea typeface="Lato"/>
                <a:cs typeface="Lato"/>
              </a:rPr>
              <a:t>: </a:t>
            </a:r>
            <a:r>
              <a:rPr lang="fr-FR" b="1" sz="1100">
                <a:latin typeface="Lato"/>
                <a:ea typeface="Lato"/>
                <a:cs typeface="Lato"/>
              </a:rPr>
              <a:t>27 500 € (50 %)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r>
              <a:rPr lang="fr-FR" sz="1100">
                <a:latin typeface="Lato"/>
                <a:ea typeface="Lato"/>
                <a:cs typeface="Lato"/>
              </a:rPr>
              <a:t>Objectif :</a:t>
            </a:r>
            <a:r>
              <a:rPr lang="fr-FR" sz="1100" b="0" i="0">
                <a:latin typeface="Lato"/>
                <a:ea typeface="Lato"/>
                <a:cs typeface="Lato"/>
              </a:rPr>
              <a:t> inscriptions de décideurs qualifiés FR et UK. Priorité à la qualité du profil.</a:t>
            </a:r>
            <a:r>
              <a:rPr lang="fr-FR" b="1" sz="1100">
                <a:latin typeface="Lato"/>
                <a:ea typeface="Lato"/>
                <a:cs typeface="Lato"/>
              </a:rPr>
              <a:t> </a:t>
            </a:r>
            <a:endParaRPr lang="en-US">
              <a:latin typeface="Lato"/>
              <a:ea typeface="Lato"/>
              <a:cs typeface="Lato"/>
            </a:endParaRPr>
          </a:p>
          <a:p>
            <a:pPr marL="7620" lvl="1" algn="l"/>
            <a:r>
              <a:rPr lang="fr-FR" sz="1100">
                <a:latin typeface="Lato"/>
                <a:ea typeface="Lato"/>
                <a:cs typeface="Lato"/>
              </a:rPr>
              <a:t>Types de campagnes : </a:t>
            </a:r>
            <a:r>
              <a:rPr lang="fr-FR" sz="1100" b="0" i="0">
                <a:latin typeface="Lato"/>
                <a:ea typeface="Lato"/>
                <a:cs typeface="Lato"/>
              </a:rPr>
              <a:t>Conversion segmentée FR/UK (secteur × séniorité × géo) ; Lead Gen Forms pour les indécis ; ABM sur bases visiteurs et exposants N-1.</a:t>
            </a:r>
            <a:endParaRPr lang="en-US">
              <a:latin typeface="Lato"/>
              <a:ea typeface="Lato"/>
              <a:cs typeface="Lato"/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97A90E2-035B-30D1-E443-F333A2D9F4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fr-FR">
                <a:latin typeface="Lato"/>
                <a:ea typeface="Lato"/>
                <a:cs typeface="Lato"/>
              </a:rPr>
              <a:t>Acquisition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88F28525-DA34-CE88-B8B0-106DA4FC35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defTabSz="642915"/>
            <a:fld id="{B6F15528-21DE-4FAA-801E-634DDDAF4B2B}" type="slidenum">
              <a:rPr lang="fr-FR" smtClean="0"/>
              <a:pPr defTabSz="642915"/>
              <a:t>6</a:t>
            </a:fld>
            <a:endParaRPr lang="fr-FR"/>
          </a:p>
        </p:txBody>
      </p:sp>
      <p:sp>
        <p:nvSpPr>
          <p:cNvPr id="19" name="Espace réservé du texte 5">
            <a:extLst>
              <a:ext uri="{FF2B5EF4-FFF2-40B4-BE49-F238E27FC236}">
                <a16:creationId xmlns:a16="http://schemas.microsoft.com/office/drawing/2014/main" id="{6DD58A08-4479-1E94-7067-D7281675DE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79475" y="2020007"/>
            <a:ext cx="3544888" cy="923330"/>
          </a:xfrm>
        </p:spPr>
        <p:txBody>
          <a:bodyPr wrap="square" lIns="0" tIns="0" rIns="0" bIns="0" anchor="t">
            <a:spAutoFit/>
          </a:bodyPr>
          <a:lstStyle/>
          <a:p>
            <a:r>
              <a:rPr lang="fr-FR" sz="1500">
                <a:solidFill>
                  <a:srgbClr val="FD5E00"/>
                </a:solidFill>
                <a:latin typeface="Lato"/>
                <a:ea typeface="Lato"/>
                <a:cs typeface="Lato"/>
              </a:rPr>
              <a:t>Budget</a:t>
            </a:r>
            <a:r>
              <a:rPr lang="fr-FR" sz="1500">
                <a:latin typeface="Lato"/>
                <a:ea typeface="Lato"/>
                <a:cs typeface="Lato"/>
              </a:rPr>
              <a:t> : </a:t>
            </a:r>
            <a:r>
              <a:rPr lang="fr-FR" sz="1500" b="1">
                <a:latin typeface="Lato"/>
                <a:ea typeface="Lato"/>
                <a:cs typeface="Lato"/>
              </a:rPr>
              <a:t>55 000 €</a:t>
            </a:r>
            <a:endParaRPr lang="fr-FR"/>
          </a:p>
          <a:p>
            <a:r>
              <a:rPr sz="1000" b="0" i="1"/>
              <a:t>Billet à 1 710 € : on vise le décideur, pas le volume. Le CPA acceptable est élevé.</a:t>
            </a:r>
            <a:endParaRPr lang="fr-FR" sz="2000" b="1">
              <a:solidFill>
                <a:schemeClr val="tx1"/>
              </a:solidFill>
              <a:ea typeface="Lato"/>
              <a:cs typeface="Lato"/>
            </a:endParaRPr>
          </a:p>
          <a:p>
            <a:endParaRPr lang="fr-FR" sz="2000" b="1"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2588309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696D9-847E-D55C-B2B5-D71B805F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>
            <a:extLst>
              <a:ext uri="{FF2B5EF4-FFF2-40B4-BE49-F238E27FC236}">
                <a16:creationId xmlns:a16="http://schemas.microsoft.com/office/drawing/2014/main" id="{95D3A636-0A32-EF51-2A66-2C289884D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9467" y="1200376"/>
            <a:ext cx="3545511" cy="492443"/>
          </a:xfrm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fr-FR">
                <a:solidFill>
                  <a:srgbClr val="FF5F00"/>
                </a:solidFill>
                <a:latin typeface="Montserrat"/>
                <a:ea typeface="Tahoma"/>
                <a:cs typeface="Tahoma"/>
              </a:rPr>
              <a:t>3. </a:t>
            </a:r>
            <a:r>
              <a:rPr lang="fr-FR">
                <a:latin typeface="Montserrat"/>
                <a:ea typeface="Tahoma"/>
                <a:cs typeface="Tahoma"/>
              </a:rPr>
              <a:t>Inbound</a:t>
            </a:r>
            <a:endParaRPr lang="en-US">
              <a:latin typeface="Montserrat"/>
              <a:ea typeface="Tahoma"/>
              <a:cs typeface="Tahoma"/>
            </a:endParaRP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525A7BD-2589-4B4D-F412-BC8664B788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wrap="square" lIns="0" tIns="0" rIns="0" bIns="0" anchor="t">
            <a:spAutoFit/>
          </a:bodyPr>
          <a:lstStyle/>
          <a:p>
            <a:r>
              <a:rPr lang="fr-FR">
                <a:latin typeface="Lato"/>
                <a:ea typeface="Lato"/>
                <a:cs typeface="Lato"/>
              </a:rPr>
              <a:t>Acquisition</a:t>
            </a:r>
            <a:endParaRPr lang="fr-FR"/>
          </a:p>
        </p:txBody>
      </p:sp>
      <p:sp>
        <p:nvSpPr>
          <p:cNvPr id="8" name="Espace réservé du numéro de diapositive 7">
            <a:extLst>
              <a:ext uri="{FF2B5EF4-FFF2-40B4-BE49-F238E27FC236}">
                <a16:creationId xmlns:a16="http://schemas.microsoft.com/office/drawing/2014/main" id="{B576EC12-AFB7-ACD9-A0D6-F2A20275A6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defTabSz="642915"/>
            <a:fld id="{B6F15528-21DE-4FAA-801E-634DDDAF4B2B}" type="slidenum">
              <a:rPr lang="fr-FR" smtClean="0"/>
              <a:pPr defTabSz="642915"/>
              <a:t>7</a:t>
            </a:fld>
            <a:endParaRPr lang="fr-FR"/>
          </a:p>
        </p:txBody>
      </p:sp>
      <p:sp>
        <p:nvSpPr>
          <p:cNvPr id="12" name="Espace réservé du texte 3">
            <a:extLst>
              <a:ext uri="{FF2B5EF4-FFF2-40B4-BE49-F238E27FC236}">
                <a16:creationId xmlns:a16="http://schemas.microsoft.com/office/drawing/2014/main" id="{C8A22895-5CDF-9EC7-6835-64921438D2E0}"/>
              </a:ext>
            </a:extLst>
          </p:cNvPr>
          <p:cNvSpPr txBox="1">
            <a:spLocks/>
          </p:cNvSpPr>
          <p:nvPr/>
        </p:nvSpPr>
        <p:spPr>
          <a:xfrm>
            <a:off x="5197136" y="821136"/>
            <a:ext cx="6168361" cy="3970318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7620" lvl="1"/>
            <a:r>
              <a:rPr lang="fr-FR" sz="1400" b="1" kern="0">
                <a:solidFill>
                  <a:srgbClr val="FD5E00"/>
                </a:solidFill>
                <a:latin typeface="Montserrat"/>
                <a:ea typeface="Lato"/>
                <a:cs typeface="Lato"/>
              </a:rPr>
              <a:t>Stratégie SEO</a:t>
            </a:r>
            <a:endParaRPr lang="en-US" sz="2000" b="1" kern="0">
              <a:solidFill>
                <a:srgbClr val="FD5E00"/>
              </a:solidFill>
              <a:latin typeface="Montserrat" panose="00000500000000000000" pitchFamily="2" charset="0"/>
              <a:ea typeface="Lato"/>
              <a:cs typeface="Lato"/>
            </a:endParaRPr>
          </a:p>
          <a:p>
            <a:pPr marL="7620" lvl="1"/>
            <a:r>
              <a:rPr lang="fr-FR" sz="900" kern="0">
                <a:solidFill>
                  <a:srgbClr val="FD5E00"/>
                </a:solidFill>
                <a:latin typeface="Lato"/>
                <a:ea typeface="Lato"/>
                <a:cs typeface="Lato"/>
              </a:rPr>
              <a:t>Exemples de mots clés</a:t>
            </a:r>
            <a:r>
              <a:rPr lang="fr-FR" sz="900" kern="0" b="0" i="0">
                <a:solidFill>
                  <a:srgbClr val="FD5E00"/>
                </a:solidFill>
                <a:latin typeface="Lato"/>
                <a:ea typeface="Lato"/>
                <a:cs typeface="Lato"/>
              </a:rPr>
              <a:t> : marque (MIPIM 2027, MIPIM inscription) ; générique FR/UK (salon immobilier international, real estate investment conference) ; longue traîne sectorielle (data centers, classes d'actifs émergentes, living).</a:t>
            </a:r>
            <a:endParaRPr lang="fr-FR" sz="1600">
              <a:ea typeface="Lato" panose="020F0502020204030203" pitchFamily="34" charset="77"/>
              <a:cs typeface="Lato" panose="020F0502020204030203" pitchFamily="34" charset="77"/>
            </a:endParaRPr>
          </a:p>
          <a:p>
            <a:pPr marL="7620" lvl="1"/>
            <a:r>
              <a:rPr lang="fr-FR" sz="900" i="1" kern="0">
                <a:latin typeface="Lato"/>
                <a:ea typeface="Lato"/>
                <a:cs typeface="Lato"/>
              </a:rPr>
              <a:t>Méthodologie de production :</a:t>
            </a:r>
            <a:r>
              <a:rPr lang="fr-FR" sz="900" i="0" kern="0" b="0">
                <a:latin typeface="Lato"/>
                <a:ea typeface="Lato"/>
                <a:cs typeface="Lato"/>
              </a:rPr>
              <a:t> clusters thématiques, un pilier par classe d'actifs et ses satellites, maillés vers l'inscription. Versions FR et EN natives. Mise à jour des URL existantes plutôt que recréation, pour capitaliser d'une édition à l'autre.</a:t>
            </a:r>
          </a:p>
          <a:p>
            <a:pPr marL="7620" lvl="1"/>
            <a:r>
              <a:rPr lang="fr-FR" sz="900" i="1" kern="0">
                <a:solidFill>
                  <a:srgbClr val="000000"/>
                </a:solidFill>
                <a:latin typeface="Lato"/>
                <a:ea typeface="Lato"/>
                <a:cs typeface="Lato"/>
              </a:rPr>
              <a:t>Méthodologie d'analyse :</a:t>
            </a:r>
            <a:r>
              <a:rPr lang="fr-FR" sz="900" i="0" kern="0" b="0">
                <a:solidFill>
                  <a:srgbClr val="000000"/>
                </a:solidFill>
                <a:latin typeface="Lato"/>
                <a:ea typeface="Lato"/>
                <a:cs typeface="Lato"/>
              </a:rPr>
              <a:t> inscriptions attribuées à l'organique, pas les sessions. Comparaison à date comparable (J-90 vs J-90). Contrôle du tracking et du consentement avant toute lecture.</a:t>
            </a:r>
          </a:p>
          <a:p>
            <a:pPr marL="7620" lvl="1"/>
            <a:endParaRPr lang="fr-FR" kern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7620" lvl="1"/>
            <a:endParaRPr lang="fr-FR" kern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7620" lvl="1"/>
            <a:endParaRPr lang="fr-FR" kern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7620" lvl="1"/>
            <a:endParaRPr lang="fr-FR" kern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7620" lvl="1"/>
            <a:endParaRPr lang="fr-FR" kern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7620" lvl="1"/>
            <a:r>
              <a:rPr lang="fr-FR" sz="1400" b="1" kern="0">
                <a:solidFill>
                  <a:srgbClr val="FD5E00"/>
                </a:solidFill>
                <a:latin typeface="Montserrat"/>
                <a:ea typeface="Lato"/>
                <a:cs typeface="Lato"/>
              </a:rPr>
              <a:t>Contenus Premium</a:t>
            </a:r>
            <a:endParaRPr lang="fr-FR" sz="16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620" lvl="1"/>
            <a:r>
              <a:rPr lang="fr-FR" sz="900" kern="0">
                <a:solidFill>
                  <a:srgbClr val="FD5E00"/>
                </a:solidFill>
                <a:latin typeface="Lato"/>
                <a:ea typeface="Lato"/>
                <a:cs typeface="Lato"/>
              </a:rPr>
              <a:t>Exemples de sujets</a:t>
            </a:r>
            <a:r>
              <a:rPr lang="fr-FR" sz="900" kern="0" b="0" i="0">
                <a:solidFill>
                  <a:srgbClr val="FD5E00"/>
                </a:solidFill>
                <a:latin typeface="Lato"/>
                <a:ea typeface="Lato"/>
                <a:cs typeface="Lato"/>
              </a:rPr>
              <a:t> : Baromètre de l'investissement immobilier européen 2027 ; Guide des classes d'actifs émergentes ; Bilan MIPIM 2026 en chiffres.</a:t>
            </a:r>
            <a:endParaRPr lang="en-US" sz="1600" i="1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620" lvl="1"/>
            <a:r>
              <a:rPr lang="fr-FR" sz="900" i="1" kern="0">
                <a:solidFill>
                  <a:srgbClr val="000000"/>
                </a:solidFill>
                <a:latin typeface="Lato"/>
                <a:ea typeface="Lato"/>
                <a:cs typeface="Lato"/>
              </a:rPr>
              <a:t>Cibles :</a:t>
            </a:r>
            <a:r>
              <a:rPr lang="fr-FR" sz="900" i="0" kern="0" b="0">
                <a:solidFill>
                  <a:srgbClr val="000000"/>
                </a:solidFill>
                <a:latin typeface="Lato"/>
                <a:ea typeface="Lato"/>
                <a:cs typeface="Lato"/>
              </a:rPr>
              <a:t> décideurs FR/UK en veille côté visiteurs ; directions développement des secteurs Living et actifs en croissance côté exposants.</a:t>
            </a:r>
            <a:endParaRPr lang="en-US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7620" lvl="1"/>
            <a:r>
              <a:rPr lang="fr-FR" sz="900" i="1" kern="0">
                <a:latin typeface="Lato"/>
                <a:ea typeface="Lato"/>
                <a:cs typeface="Lato"/>
              </a:rPr>
              <a:t>Objectifs :</a:t>
            </a:r>
            <a:r>
              <a:rPr lang="fr-FR" sz="900" i="0" kern="0" b="0">
                <a:latin typeface="Lato"/>
                <a:ea typeface="Lato"/>
                <a:cs typeface="Lato"/>
              </a:rPr>
              <a:t> qualifier en haut de funnel, alimenter le nurturing CRM et les audiences de retargeting, nourrir le SEO.</a:t>
            </a:r>
          </a:p>
          <a:p>
            <a:pPr marL="7620" lvl="1"/>
            <a:r>
              <a:rPr lang="fr-FR" sz="900" i="1" kern="0">
                <a:solidFill>
                  <a:srgbClr val="000000"/>
                </a:solidFill>
                <a:latin typeface="Lato"/>
                <a:ea typeface="Lato"/>
                <a:cs typeface="Lato"/>
              </a:rPr>
              <a:t>Diffusion/Amplification :</a:t>
            </a:r>
            <a:r>
              <a:rPr lang="fr-FR" sz="900" i="0" kern="0" b="0">
                <a:solidFill>
                  <a:srgbClr val="000000"/>
                </a:solidFill>
                <a:latin typeface="Lato"/>
                <a:ea typeface="Lato"/>
                <a:cs typeface="Lato"/>
              </a:rPr>
              <a:t> base first-party N-1 par email en premier ; LinkedIn organique et advocacy ; amplification payante de ce qui performe en organique ; presse spécialisée ; retargeting des téléchargeurs.</a:t>
            </a:r>
            <a:endParaRPr lang="en-US" sz="1600" kern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marL="7620" lvl="1"/>
            <a:endParaRPr lang="fr-FR" sz="1600" kern="0">
              <a:solidFill>
                <a:srgbClr val="FD5E00"/>
              </a:solidFill>
              <a:latin typeface="Lato"/>
              <a:ea typeface="Lato"/>
              <a:cs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81043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B649D-5288-2A57-6BB3-BB5FDE04A0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F59C7EB0-B431-1D85-1D75-532EA6B6F9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571543" y="5675693"/>
            <a:ext cx="10442574" cy="1015663"/>
          </a:xfrm>
        </p:spPr>
        <p:txBody>
          <a:bodyPr/>
          <a:lstStyle/>
          <a:p>
            <a:pPr algn="r"/>
            <a:r>
              <a:rPr lang="fr-FR" sz="6600"/>
              <a:t>MERCI !</a:t>
            </a:r>
            <a:endParaRPr lang="fr-FR" sz="6600" i="1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511E60D7-96CE-3389-8D35-C2F840F55B4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000"/>
          <a:stretch/>
        </p:blipFill>
        <p:spPr>
          <a:xfrm>
            <a:off x="779643" y="5838121"/>
            <a:ext cx="1790301" cy="506142"/>
          </a:xfrm>
          <a:prstGeom prst="rect">
            <a:avLst/>
          </a:prstGeom>
        </p:spPr>
      </p:pic>
      <p:sp>
        <p:nvSpPr>
          <p:cNvPr id="5" name="Espace réservé du texte 10">
            <a:extLst>
              <a:ext uri="{FF2B5EF4-FFF2-40B4-BE49-F238E27FC236}">
                <a16:creationId xmlns:a16="http://schemas.microsoft.com/office/drawing/2014/main" id="{94D53DF7-9B56-453E-33D3-0EA56DA143CC}"/>
              </a:ext>
            </a:extLst>
          </p:cNvPr>
          <p:cNvSpPr txBox="1">
            <a:spLocks/>
          </p:cNvSpPr>
          <p:nvPr/>
        </p:nvSpPr>
        <p:spPr>
          <a:xfrm>
            <a:off x="2569944" y="2573999"/>
            <a:ext cx="3821905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3000" b="1" i="0">
                <a:latin typeface="Montserrat" pitchFamily="2" charset="77"/>
                <a:ea typeface="+mn-ea"/>
                <a:cs typeface="+mn-cs"/>
              </a:defRPr>
            </a:lvl1pPr>
            <a:lvl2pPr marL="321296">
              <a:defRPr>
                <a:latin typeface="+mn-lt"/>
                <a:ea typeface="+mn-ea"/>
                <a:cs typeface="+mn-cs"/>
              </a:defRPr>
            </a:lvl2pPr>
            <a:lvl3pPr marL="642593">
              <a:defRPr>
                <a:latin typeface="+mn-lt"/>
                <a:ea typeface="+mn-ea"/>
                <a:cs typeface="+mn-cs"/>
              </a:defRPr>
            </a:lvl3pPr>
            <a:lvl4pPr marL="963890">
              <a:defRPr>
                <a:latin typeface="+mn-lt"/>
                <a:ea typeface="+mn-ea"/>
                <a:cs typeface="+mn-cs"/>
              </a:defRPr>
            </a:lvl4pPr>
            <a:lvl5pPr marL="1285187">
              <a:defRPr>
                <a:latin typeface="+mn-lt"/>
                <a:ea typeface="+mn-ea"/>
                <a:cs typeface="+mn-cs"/>
              </a:defRPr>
            </a:lvl5pPr>
            <a:lvl6pPr marL="1606483">
              <a:defRPr>
                <a:latin typeface="+mn-lt"/>
                <a:ea typeface="+mn-ea"/>
                <a:cs typeface="+mn-cs"/>
              </a:defRPr>
            </a:lvl6pPr>
            <a:lvl7pPr marL="1927779">
              <a:defRPr>
                <a:latin typeface="+mn-lt"/>
                <a:ea typeface="+mn-ea"/>
                <a:cs typeface="+mn-cs"/>
              </a:defRPr>
            </a:lvl7pPr>
            <a:lvl8pPr marL="2249076">
              <a:defRPr>
                <a:latin typeface="+mn-lt"/>
                <a:ea typeface="+mn-ea"/>
                <a:cs typeface="+mn-cs"/>
              </a:defRPr>
            </a:lvl8pPr>
            <a:lvl9pPr marL="2570373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fr-FR" sz="2000" kern="0">
                <a:solidFill>
                  <a:sysClr val="windowText" lastClr="000000"/>
                </a:solidFill>
              </a:rPr>
              <a:t>Arthur Pawlowski</a:t>
            </a:r>
          </a:p>
        </p:txBody>
      </p:sp>
    </p:spTree>
    <p:extLst>
      <p:ext uri="{BB962C8B-B14F-4D97-AF65-F5344CB8AC3E}">
        <p14:creationId xmlns:p14="http://schemas.microsoft.com/office/powerpoint/2010/main" val="27673861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vert="horz" wrap="square" lIns="0" tIns="73660" rIns="0" bIns="0" rtlCol="0">
        <a:spAutoFit/>
      </a:bodyPr>
      <a:lstStyle>
        <a:defPPr marL="12700" marR="5080" algn="l">
          <a:lnSpc>
            <a:spcPts val="4900"/>
          </a:lnSpc>
          <a:spcBef>
            <a:spcPts val="580"/>
          </a:spcBef>
          <a:tabLst>
            <a:tab pos="1345565" algn="l"/>
          </a:tabLst>
          <a:defRPr sz="4400" b="1" dirty="0">
            <a:solidFill>
              <a:srgbClr val="FF5F00"/>
            </a:solidFill>
            <a:latin typeface="Montserrat"/>
            <a:cs typeface="Montserra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7D326EA9F3E4A41847F6D526CAFB1A8" ma:contentTypeVersion="0" ma:contentTypeDescription="Crée un document." ma:contentTypeScope="" ma:versionID="45702c058a3d4cee49156f51da00c53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9b3613ba4871b6d4221e6a6d8c4f7bd5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74C94B5-FED6-4CF5-8AFD-A9451B1229AF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9DC7711-558F-4F48-9F77-2AE3C1EBA6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2FC9D31-30A1-4B78-B3CB-8273C2F60E52}">
  <ds:schemaRefs>
    <ds:schemaRef ds:uri="dbb79bca-ff5f-4bed-a788-9e5b13f7b8d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49ac42a-3eb4-4074-b885-aea26bd6241e}" enabled="1" method="Standard" siteId="{9274ee3f-9425-4109-a27f-9fb15c10675d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1. Paid Exposant</vt:lpstr>
      <vt:lpstr>2. Paid Visiteurs</vt:lpstr>
      <vt:lpstr>3. Inbound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Boissier, Tristan (RX-CON)</dc:creator>
  <cp:revision>2</cp:revision>
  <cp:lastPrinted>2024-02-26T15:49:12Z</cp:lastPrinted>
  <dcterms:created xsi:type="dcterms:W3CDTF">2023-06-21T10:09:38Z</dcterms:created>
  <dcterms:modified xsi:type="dcterms:W3CDTF">2026-09-16T10:15:22Z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0x010100D7D326EA9F3E4A41847F6D526CAFB1A8</vt:lpwstr>
  </property>
  <property fmtid="{D5CDD505-2E9C-101B-9397-08002B2CF9AE}" pid="3" name="MediaServiceImageTags">
    <vt:lpwstr/>
  </property>
  <property fmtid="{D5CDD505-2E9C-101B-9397-08002B2CF9AE}" pid="4" name="MSIP_Label_549ac42a-3eb4-4074-b885-aea26bd6241e_Enabled">
    <vt:lpwstr>true</vt:lpwstr>
  </property>
  <property fmtid="{D5CDD505-2E9C-101B-9397-08002B2CF9AE}" pid="5" name="MSIP_Label_549ac42a-3eb4-4074-b885-aea26bd6241e_SetDate">
    <vt:lpwstr>2024-10-28T15:45:04Z</vt:lpwstr>
  </property>
  <property fmtid="{D5CDD505-2E9C-101B-9397-08002B2CF9AE}" pid="6" name="MSIP_Label_549ac42a-3eb4-4074-b885-aea26bd6241e_Method">
    <vt:lpwstr>Standard</vt:lpwstr>
  </property>
  <property fmtid="{D5CDD505-2E9C-101B-9397-08002B2CF9AE}" pid="7" name="MSIP_Label_549ac42a-3eb4-4074-b885-aea26bd6241e_Name">
    <vt:lpwstr>General Business</vt:lpwstr>
  </property>
  <property fmtid="{D5CDD505-2E9C-101B-9397-08002B2CF9AE}" pid="8" name="MSIP_Label_549ac42a-3eb4-4074-b885-aea26bd6241e_SiteId">
    <vt:lpwstr>9274ee3f-9425-4109-a27f-9fb15c10675d</vt:lpwstr>
  </property>
  <property fmtid="{D5CDD505-2E9C-101B-9397-08002B2CF9AE}" pid="9" name="MSIP_Label_549ac42a-3eb4-4074-b885-aea26bd6241e_ActionId">
    <vt:lpwstr>1a3bb86d-a56d-4ce1-acbc-45118894a61e</vt:lpwstr>
  </property>
  <property fmtid="{D5CDD505-2E9C-101B-9397-08002B2CF9AE}" pid="10" name="MSIP_Label_549ac42a-3eb4-4074-b885-aea26bd6241e_ContentBits">
    <vt:lpwstr>0</vt:lpwstr>
  </property>
</Properties>
</file>